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67" r:id="rId3"/>
    <p:sldId id="270" r:id="rId4"/>
    <p:sldId id="271" r:id="rId5"/>
    <p:sldId id="272" r:id="rId6"/>
    <p:sldId id="259" r:id="rId7"/>
    <p:sldId id="273" r:id="rId8"/>
    <p:sldId id="274" r:id="rId9"/>
    <p:sldId id="263" r:id="rId10"/>
    <p:sldId id="275" r:id="rId11"/>
    <p:sldId id="276" r:id="rId12"/>
    <p:sldId id="277" r:id="rId13"/>
    <p:sldId id="278" r:id="rId14"/>
    <p:sldId id="279" r:id="rId15"/>
    <p:sldId id="281" r:id="rId16"/>
    <p:sldId id="280" r:id="rId17"/>
    <p:sldId id="282"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001" autoAdjust="0"/>
    <p:restoredTop sz="94660"/>
  </p:normalViewPr>
  <p:slideViewPr>
    <p:cSldViewPr snapToGrid="0">
      <p:cViewPr>
        <p:scale>
          <a:sx n="25" d="100"/>
          <a:sy n="25" d="100"/>
        </p:scale>
        <p:origin x="2548" y="7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FA1A49-514F-4382-B0B2-E7EF9E2A4089}" type="datetimeFigureOut">
              <a:rPr lang="en-US" smtClean="0"/>
              <a:t>5/22/2025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31F006-BEE4-4BEA-AF3E-112D1A7608C3}" type="slidenum">
              <a:rPr lang="en-US" smtClean="0"/>
              <a:t>‹#›</a:t>
            </a:fld>
            <a:endParaRPr lang="en-US"/>
          </a:p>
        </p:txBody>
      </p:sp>
    </p:spTree>
    <p:extLst>
      <p:ext uri="{BB962C8B-B14F-4D97-AF65-F5344CB8AC3E}">
        <p14:creationId xmlns:p14="http://schemas.microsoft.com/office/powerpoint/2010/main" val="2019572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F31F006-BEE4-4BEA-AF3E-112D1A7608C3}" type="slidenum">
              <a:rPr lang="en-US" smtClean="0"/>
              <a:t>18</a:t>
            </a:fld>
            <a:endParaRPr lang="en-US"/>
          </a:p>
        </p:txBody>
      </p:sp>
    </p:spTree>
    <p:extLst>
      <p:ext uri="{BB962C8B-B14F-4D97-AF65-F5344CB8AC3E}">
        <p14:creationId xmlns:p14="http://schemas.microsoft.com/office/powerpoint/2010/main" val="3558952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ADA64-2BDC-F995-5401-60E2B20FA3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710013C-0FA9-B017-892F-E2667F151D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819C7D-1808-E097-98E5-E0C2F4F8FAAB}"/>
              </a:ext>
            </a:extLst>
          </p:cNvPr>
          <p:cNvSpPr>
            <a:spLocks noGrp="1"/>
          </p:cNvSpPr>
          <p:nvPr>
            <p:ph type="dt" sz="half" idx="10"/>
          </p:nvPr>
        </p:nvSpPr>
        <p:spPr/>
        <p:txBody>
          <a:bodyPr/>
          <a:lstStyle/>
          <a:p>
            <a:fld id="{8C779B9C-640F-4536-B1F9-4F87B1DA12F7}" type="datetimeFigureOut">
              <a:rPr lang="en-US" smtClean="0"/>
              <a:t>5/22/2025</a:t>
            </a:fld>
            <a:endParaRPr lang="en-US"/>
          </a:p>
        </p:txBody>
      </p:sp>
      <p:sp>
        <p:nvSpPr>
          <p:cNvPr id="5" name="Footer Placeholder 4">
            <a:extLst>
              <a:ext uri="{FF2B5EF4-FFF2-40B4-BE49-F238E27FC236}">
                <a16:creationId xmlns:a16="http://schemas.microsoft.com/office/drawing/2014/main" id="{12E9F30C-D53F-F764-A03C-93AE548692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834EA8-C8E4-CFF3-B855-5351CA1D35C3}"/>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1037383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B48B2-08BA-AE54-497D-7744A963E5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D6E133-4723-FD8F-2BFC-930EE8A9D0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AB69A1-92AB-530F-DFE0-1071F8524C96}"/>
              </a:ext>
            </a:extLst>
          </p:cNvPr>
          <p:cNvSpPr>
            <a:spLocks noGrp="1"/>
          </p:cNvSpPr>
          <p:nvPr>
            <p:ph type="dt" sz="half" idx="10"/>
          </p:nvPr>
        </p:nvSpPr>
        <p:spPr/>
        <p:txBody>
          <a:bodyPr/>
          <a:lstStyle/>
          <a:p>
            <a:fld id="{8C779B9C-640F-4536-B1F9-4F87B1DA12F7}" type="datetimeFigureOut">
              <a:rPr lang="en-US" smtClean="0"/>
              <a:t>5/22/2025</a:t>
            </a:fld>
            <a:endParaRPr lang="en-US"/>
          </a:p>
        </p:txBody>
      </p:sp>
      <p:sp>
        <p:nvSpPr>
          <p:cNvPr id="5" name="Footer Placeholder 4">
            <a:extLst>
              <a:ext uri="{FF2B5EF4-FFF2-40B4-BE49-F238E27FC236}">
                <a16:creationId xmlns:a16="http://schemas.microsoft.com/office/drawing/2014/main" id="{62E689AB-143B-4B9F-2EF2-66C45FA791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196562-1108-6065-863C-F4DD2535AAAF}"/>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4218855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0F77E-8536-CA6F-EFC3-3A177357A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C66D41-B93A-F77A-95CC-68A93BF872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151227-628D-57B1-09F3-451B6F77789D}"/>
              </a:ext>
            </a:extLst>
          </p:cNvPr>
          <p:cNvSpPr>
            <a:spLocks noGrp="1"/>
          </p:cNvSpPr>
          <p:nvPr>
            <p:ph type="dt" sz="half" idx="10"/>
          </p:nvPr>
        </p:nvSpPr>
        <p:spPr/>
        <p:txBody>
          <a:bodyPr/>
          <a:lstStyle/>
          <a:p>
            <a:fld id="{8C779B9C-640F-4536-B1F9-4F87B1DA12F7}" type="datetimeFigureOut">
              <a:rPr lang="en-US" smtClean="0"/>
              <a:t>5/22/2025</a:t>
            </a:fld>
            <a:endParaRPr lang="en-US"/>
          </a:p>
        </p:txBody>
      </p:sp>
      <p:sp>
        <p:nvSpPr>
          <p:cNvPr id="5" name="Footer Placeholder 4">
            <a:extLst>
              <a:ext uri="{FF2B5EF4-FFF2-40B4-BE49-F238E27FC236}">
                <a16:creationId xmlns:a16="http://schemas.microsoft.com/office/drawing/2014/main" id="{840AC71D-FAD2-E550-A34E-0D861DAB03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3B4C60-32A9-F90D-7D92-82DC9E207F66}"/>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3071435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A8473-732C-EF50-3932-A34ACAD3A6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D2D517-6D72-CC48-42C3-EF8ECDF550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A06E61-4969-9AA7-D825-79D2773EFF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96E40F-095E-5319-8714-C71E2D2DDC36}"/>
              </a:ext>
            </a:extLst>
          </p:cNvPr>
          <p:cNvSpPr>
            <a:spLocks noGrp="1"/>
          </p:cNvSpPr>
          <p:nvPr>
            <p:ph type="dt" sz="half" idx="10"/>
          </p:nvPr>
        </p:nvSpPr>
        <p:spPr/>
        <p:txBody>
          <a:bodyPr/>
          <a:lstStyle/>
          <a:p>
            <a:fld id="{8C779B9C-640F-4536-B1F9-4F87B1DA12F7}" type="datetimeFigureOut">
              <a:rPr lang="en-US" smtClean="0"/>
              <a:t>5/22/2025</a:t>
            </a:fld>
            <a:endParaRPr lang="en-US"/>
          </a:p>
        </p:txBody>
      </p:sp>
      <p:sp>
        <p:nvSpPr>
          <p:cNvPr id="6" name="Footer Placeholder 5">
            <a:extLst>
              <a:ext uri="{FF2B5EF4-FFF2-40B4-BE49-F238E27FC236}">
                <a16:creationId xmlns:a16="http://schemas.microsoft.com/office/drawing/2014/main" id="{9AAF0689-D5E3-B77F-0238-5D303DB346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08799D-E2F0-82A8-0E5F-CFE29EB2BCE2}"/>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1389165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D5863-84FE-A9EB-84D4-064CBE87B01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7A49C1-6189-57AA-38DD-E87BB61996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826C61-AD35-9A00-B9F1-6ADF42F234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CF2339-A162-2950-89B5-011E6648FE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A4FB6E-8B8D-863E-3E30-FDB98C71BA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541DB5-CF87-1525-0E81-67BCEF479BE2}"/>
              </a:ext>
            </a:extLst>
          </p:cNvPr>
          <p:cNvSpPr>
            <a:spLocks noGrp="1"/>
          </p:cNvSpPr>
          <p:nvPr>
            <p:ph type="dt" sz="half" idx="10"/>
          </p:nvPr>
        </p:nvSpPr>
        <p:spPr/>
        <p:txBody>
          <a:bodyPr/>
          <a:lstStyle/>
          <a:p>
            <a:fld id="{8C779B9C-640F-4536-B1F9-4F87B1DA12F7}" type="datetimeFigureOut">
              <a:rPr lang="en-US" smtClean="0"/>
              <a:t>5/22/2025</a:t>
            </a:fld>
            <a:endParaRPr lang="en-US"/>
          </a:p>
        </p:txBody>
      </p:sp>
      <p:sp>
        <p:nvSpPr>
          <p:cNvPr id="8" name="Footer Placeholder 7">
            <a:extLst>
              <a:ext uri="{FF2B5EF4-FFF2-40B4-BE49-F238E27FC236}">
                <a16:creationId xmlns:a16="http://schemas.microsoft.com/office/drawing/2014/main" id="{7D413691-38C1-63D6-D164-AA7AC6AD40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49FB23-50E0-0C28-C6F1-34A63CDB9B80}"/>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2641339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E643F-E064-CBC5-E3A4-48AAEC9B43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2EA515B-F145-FA50-734C-EECEAF0FBF47}"/>
              </a:ext>
            </a:extLst>
          </p:cNvPr>
          <p:cNvSpPr>
            <a:spLocks noGrp="1"/>
          </p:cNvSpPr>
          <p:nvPr>
            <p:ph type="dt" sz="half" idx="10"/>
          </p:nvPr>
        </p:nvSpPr>
        <p:spPr/>
        <p:txBody>
          <a:bodyPr/>
          <a:lstStyle/>
          <a:p>
            <a:fld id="{8C779B9C-640F-4536-B1F9-4F87B1DA12F7}" type="datetimeFigureOut">
              <a:rPr lang="en-US" smtClean="0"/>
              <a:t>5/22/2025</a:t>
            </a:fld>
            <a:endParaRPr lang="en-US"/>
          </a:p>
        </p:txBody>
      </p:sp>
      <p:sp>
        <p:nvSpPr>
          <p:cNvPr id="4" name="Footer Placeholder 3">
            <a:extLst>
              <a:ext uri="{FF2B5EF4-FFF2-40B4-BE49-F238E27FC236}">
                <a16:creationId xmlns:a16="http://schemas.microsoft.com/office/drawing/2014/main" id="{ABEB5CF0-4D50-E777-1298-397F63ED49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675817-6A39-BF57-8C2D-E88A4357590D}"/>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1638065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515A91-7013-EA82-A3F8-4E574B9CE411}"/>
              </a:ext>
            </a:extLst>
          </p:cNvPr>
          <p:cNvSpPr>
            <a:spLocks noGrp="1"/>
          </p:cNvSpPr>
          <p:nvPr>
            <p:ph type="dt" sz="half" idx="10"/>
          </p:nvPr>
        </p:nvSpPr>
        <p:spPr/>
        <p:txBody>
          <a:bodyPr/>
          <a:lstStyle/>
          <a:p>
            <a:fld id="{8C779B9C-640F-4536-B1F9-4F87B1DA12F7}" type="datetimeFigureOut">
              <a:rPr lang="en-US" smtClean="0"/>
              <a:t>5/22/2025</a:t>
            </a:fld>
            <a:endParaRPr lang="en-US"/>
          </a:p>
        </p:txBody>
      </p:sp>
      <p:sp>
        <p:nvSpPr>
          <p:cNvPr id="3" name="Footer Placeholder 2">
            <a:extLst>
              <a:ext uri="{FF2B5EF4-FFF2-40B4-BE49-F238E27FC236}">
                <a16:creationId xmlns:a16="http://schemas.microsoft.com/office/drawing/2014/main" id="{3D023A04-B912-8331-5FE0-3C5ED4AA7A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2E32B3-BB29-18F7-9EE7-D74F5BCFEA54}"/>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3794113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3EFCD-5FBD-31B3-EEF4-1463D5829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EFBFEF-F423-CA6F-5635-A6CBAC3B5F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BC0275-3B96-B35E-C524-9E9699456D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444348-47B3-CC22-1B1A-C5DF72AFEF37}"/>
              </a:ext>
            </a:extLst>
          </p:cNvPr>
          <p:cNvSpPr>
            <a:spLocks noGrp="1"/>
          </p:cNvSpPr>
          <p:nvPr>
            <p:ph type="dt" sz="half" idx="10"/>
          </p:nvPr>
        </p:nvSpPr>
        <p:spPr/>
        <p:txBody>
          <a:bodyPr/>
          <a:lstStyle/>
          <a:p>
            <a:fld id="{8C779B9C-640F-4536-B1F9-4F87B1DA12F7}" type="datetimeFigureOut">
              <a:rPr lang="en-US" smtClean="0"/>
              <a:t>5/22/2025</a:t>
            </a:fld>
            <a:endParaRPr lang="en-US"/>
          </a:p>
        </p:txBody>
      </p:sp>
      <p:sp>
        <p:nvSpPr>
          <p:cNvPr id="6" name="Footer Placeholder 5">
            <a:extLst>
              <a:ext uri="{FF2B5EF4-FFF2-40B4-BE49-F238E27FC236}">
                <a16:creationId xmlns:a16="http://schemas.microsoft.com/office/drawing/2014/main" id="{0DB150B4-2686-85FF-5122-1CE902FFDB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2B65B0-0888-66D4-FE86-0EC742F702E5}"/>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1765579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4371-E0EC-C275-01B7-BA0A1268A9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B403F2-4C0D-B48B-1ED2-96A13FF707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D3DEA1-C8FD-AA10-6E7D-4D2CA7F5E8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A6AE59-B879-D719-FD42-86DC92EA7FCF}"/>
              </a:ext>
            </a:extLst>
          </p:cNvPr>
          <p:cNvSpPr>
            <a:spLocks noGrp="1"/>
          </p:cNvSpPr>
          <p:nvPr>
            <p:ph type="dt" sz="half" idx="10"/>
          </p:nvPr>
        </p:nvSpPr>
        <p:spPr/>
        <p:txBody>
          <a:bodyPr/>
          <a:lstStyle/>
          <a:p>
            <a:fld id="{8C779B9C-640F-4536-B1F9-4F87B1DA12F7}" type="datetimeFigureOut">
              <a:rPr lang="en-US" smtClean="0"/>
              <a:t>5/22/2025</a:t>
            </a:fld>
            <a:endParaRPr lang="en-US"/>
          </a:p>
        </p:txBody>
      </p:sp>
      <p:sp>
        <p:nvSpPr>
          <p:cNvPr id="6" name="Footer Placeholder 5">
            <a:extLst>
              <a:ext uri="{FF2B5EF4-FFF2-40B4-BE49-F238E27FC236}">
                <a16:creationId xmlns:a16="http://schemas.microsoft.com/office/drawing/2014/main" id="{CB38CD54-A011-E172-C15E-A7AE69CE3C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E7DF08-84E3-0A06-DCD2-BB401C44D5BC}"/>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2962791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1729F-0DD8-D23F-2764-2B6BE4F7CB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8BF805-FBB3-3AAA-8ACD-F2B108673F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0C4413-9AFF-8E01-CE0D-28921BE06607}"/>
              </a:ext>
            </a:extLst>
          </p:cNvPr>
          <p:cNvSpPr>
            <a:spLocks noGrp="1"/>
          </p:cNvSpPr>
          <p:nvPr>
            <p:ph type="dt" sz="half" idx="10"/>
          </p:nvPr>
        </p:nvSpPr>
        <p:spPr/>
        <p:txBody>
          <a:bodyPr/>
          <a:lstStyle/>
          <a:p>
            <a:fld id="{8C779B9C-640F-4536-B1F9-4F87B1DA12F7}" type="datetimeFigureOut">
              <a:rPr lang="en-US" smtClean="0"/>
              <a:t>5/22/2025</a:t>
            </a:fld>
            <a:endParaRPr lang="en-US"/>
          </a:p>
        </p:txBody>
      </p:sp>
      <p:sp>
        <p:nvSpPr>
          <p:cNvPr id="5" name="Footer Placeholder 4">
            <a:extLst>
              <a:ext uri="{FF2B5EF4-FFF2-40B4-BE49-F238E27FC236}">
                <a16:creationId xmlns:a16="http://schemas.microsoft.com/office/drawing/2014/main" id="{1148F0D7-B7B8-3F3B-B23C-FAC298A47D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D6458F-34CC-3337-2470-6A2859C7002E}"/>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3525641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AA09E8-C660-60C0-4E6F-2627C92B462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C2DC2F-CADA-BECA-2010-EC777237D9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1D08F2-7182-1D58-2571-FE1557C10751}"/>
              </a:ext>
            </a:extLst>
          </p:cNvPr>
          <p:cNvSpPr>
            <a:spLocks noGrp="1"/>
          </p:cNvSpPr>
          <p:nvPr>
            <p:ph type="dt" sz="half" idx="10"/>
          </p:nvPr>
        </p:nvSpPr>
        <p:spPr/>
        <p:txBody>
          <a:bodyPr/>
          <a:lstStyle/>
          <a:p>
            <a:fld id="{8C779B9C-640F-4536-B1F9-4F87B1DA12F7}" type="datetimeFigureOut">
              <a:rPr lang="en-US" smtClean="0"/>
              <a:t>5/22/2025</a:t>
            </a:fld>
            <a:endParaRPr lang="en-US"/>
          </a:p>
        </p:txBody>
      </p:sp>
      <p:sp>
        <p:nvSpPr>
          <p:cNvPr id="5" name="Footer Placeholder 4">
            <a:extLst>
              <a:ext uri="{FF2B5EF4-FFF2-40B4-BE49-F238E27FC236}">
                <a16:creationId xmlns:a16="http://schemas.microsoft.com/office/drawing/2014/main" id="{64283CB9-DD4C-B8C2-7EBD-ADF519DE9B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F6A021-71CC-A90D-B414-5881A603D4DC}"/>
              </a:ext>
            </a:extLst>
          </p:cNvPr>
          <p:cNvSpPr>
            <a:spLocks noGrp="1"/>
          </p:cNvSpPr>
          <p:nvPr>
            <p:ph type="sldNum" sz="quarter" idx="12"/>
          </p:nvPr>
        </p:nvSpPr>
        <p:spPr/>
        <p:txBody>
          <a:bodyPr/>
          <a:lstStyle/>
          <a:p>
            <a:fld id="{99765DC2-DF38-4A47-A261-3D3223BF0E00}" type="slidenum">
              <a:rPr lang="en-US" smtClean="0"/>
              <a:t>‹#›</a:t>
            </a:fld>
            <a:endParaRPr lang="en-US"/>
          </a:p>
        </p:txBody>
      </p:sp>
    </p:spTree>
    <p:extLst>
      <p:ext uri="{BB962C8B-B14F-4D97-AF65-F5344CB8AC3E}">
        <p14:creationId xmlns:p14="http://schemas.microsoft.com/office/powerpoint/2010/main" val="29685974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BA5F3D-A3B6-F8FE-64B6-144D7B3B2C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A3BC4DA-0C6A-E69F-F972-EA7B07B3B1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886A1D-6D26-5360-963E-6925FA4DED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779B9C-640F-4536-B1F9-4F87B1DA12F7}" type="datetimeFigureOut">
              <a:rPr lang="en-US" smtClean="0"/>
              <a:t>5/22/2025</a:t>
            </a:fld>
            <a:endParaRPr lang="en-US"/>
          </a:p>
        </p:txBody>
      </p:sp>
      <p:sp>
        <p:nvSpPr>
          <p:cNvPr id="5" name="Footer Placeholder 4">
            <a:extLst>
              <a:ext uri="{FF2B5EF4-FFF2-40B4-BE49-F238E27FC236}">
                <a16:creationId xmlns:a16="http://schemas.microsoft.com/office/drawing/2014/main" id="{74452A17-471B-2276-A275-86FC2CF0CE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552F00-85EB-7AE7-617B-C3BEC4634D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765DC2-DF38-4A47-A261-3D3223BF0E00}" type="slidenum">
              <a:rPr lang="en-US" smtClean="0"/>
              <a:t>‹#›</a:t>
            </a:fld>
            <a:endParaRPr lang="en-US"/>
          </a:p>
        </p:txBody>
      </p:sp>
    </p:spTree>
    <p:extLst>
      <p:ext uri="{BB962C8B-B14F-4D97-AF65-F5344CB8AC3E}">
        <p14:creationId xmlns:p14="http://schemas.microsoft.com/office/powerpoint/2010/main" val="3170936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svg"/><Relationship Id="rId10"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jpe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11.jpeg"/><Relationship Id="rId5" Type="http://schemas.openxmlformats.org/officeDocument/2006/relationships/image" Target="../media/image3.svg"/><Relationship Id="rId10" Type="http://schemas.openxmlformats.org/officeDocument/2006/relationships/image" Target="../media/image10.png"/><Relationship Id="rId4" Type="http://schemas.openxmlformats.org/officeDocument/2006/relationships/image" Target="../media/image2.png"/><Relationship Id="rId9" Type="http://schemas.openxmlformats.org/officeDocument/2006/relationships/image" Target="../media/image7.svg"/></Relationships>
</file>

<file path=ppt/slides/_rels/slide10.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jpe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2.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 Id="rId1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7.svg"/><Relationship Id="rId12" Type="http://schemas.openxmlformats.org/officeDocument/2006/relationships/image" Target="../media/image14.sv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3.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bstract background of node and mesh">
            <a:extLst>
              <a:ext uri="{FF2B5EF4-FFF2-40B4-BE49-F238E27FC236}">
                <a16:creationId xmlns:a16="http://schemas.microsoft.com/office/drawing/2014/main" id="{5AEE0F0C-9A44-CEC1-5C2E-2302204F50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7099B296-5761-CF74-D79E-306AAB5D33CA}"/>
              </a:ext>
            </a:extLst>
          </p:cNvPr>
          <p:cNvSpPr/>
          <p:nvPr/>
        </p:nvSpPr>
        <p:spPr>
          <a:xfrm>
            <a:off x="0" y="14443"/>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800" dirty="0">
                <a:solidFill>
                  <a:schemeClr val="bg1"/>
                </a:solidFill>
                <a:latin typeface="Switzerland Cond Black" panose="020B0500000000000000" pitchFamily="34" charset="0"/>
              </a:rPr>
              <a:t>SCIENTIFIC </a:t>
            </a:r>
          </a:p>
          <a:p>
            <a:pPr algn="ctr"/>
            <a:r>
              <a:rPr lang="en-US" sz="8800" dirty="0">
                <a:solidFill>
                  <a:schemeClr val="bg1"/>
                </a:solidFill>
                <a:latin typeface="Switzerland Cond Black" panose="020B0500000000000000" pitchFamily="34" charset="0"/>
              </a:rPr>
              <a:t>CALCULATOR</a:t>
            </a:r>
          </a:p>
        </p:txBody>
      </p:sp>
      <p:sp>
        <p:nvSpPr>
          <p:cNvPr id="24" name="Rectangle 23">
            <a:extLst>
              <a:ext uri="{FF2B5EF4-FFF2-40B4-BE49-F238E27FC236}">
                <a16:creationId xmlns:a16="http://schemas.microsoft.com/office/drawing/2014/main" id="{E57282B2-EDBF-5ED3-6714-F084D4ED0FD8}"/>
              </a:ext>
            </a:extLst>
          </p:cNvPr>
          <p:cNvSpPr/>
          <p:nvPr/>
        </p:nvSpPr>
        <p:spPr>
          <a:xfrm>
            <a:off x="0" y="-7416594"/>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70EA1C11-8113-008A-123D-09669EA10EBF}"/>
              </a:ext>
            </a:extLst>
          </p:cNvPr>
          <p:cNvSpPr/>
          <p:nvPr/>
        </p:nvSpPr>
        <p:spPr>
          <a:xfrm>
            <a:off x="-6848818"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76BD2474-F8CD-3800-2461-6B7A6A373BAB}"/>
              </a:ext>
            </a:extLst>
          </p:cNvPr>
          <p:cNvSpPr/>
          <p:nvPr/>
        </p:nvSpPr>
        <p:spPr>
          <a:xfrm>
            <a:off x="-4658298"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Graphic 27" descr="Customer review with solid fill">
            <a:extLst>
              <a:ext uri="{FF2B5EF4-FFF2-40B4-BE49-F238E27FC236}">
                <a16:creationId xmlns:a16="http://schemas.microsoft.com/office/drawing/2014/main" id="{48D17A1A-CD9E-2C69-DF22-D21361B774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94474" y="2853267"/>
            <a:ext cx="1151467" cy="1151467"/>
          </a:xfrm>
          <a:prstGeom prst="rect">
            <a:avLst/>
          </a:prstGeom>
        </p:spPr>
      </p:pic>
      <p:sp>
        <p:nvSpPr>
          <p:cNvPr id="27" name="Rectangle: Rounded Corners 26">
            <a:extLst>
              <a:ext uri="{FF2B5EF4-FFF2-40B4-BE49-F238E27FC236}">
                <a16:creationId xmlns:a16="http://schemas.microsoft.com/office/drawing/2014/main" id="{0086F27B-E455-2918-87B2-D0852FEB66E7}"/>
              </a:ext>
            </a:extLst>
          </p:cNvPr>
          <p:cNvSpPr/>
          <p:nvPr/>
        </p:nvSpPr>
        <p:spPr>
          <a:xfrm>
            <a:off x="16499228"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c 30" descr="Scales of justice with solid fill">
            <a:extLst>
              <a:ext uri="{FF2B5EF4-FFF2-40B4-BE49-F238E27FC236}">
                <a16:creationId xmlns:a16="http://schemas.microsoft.com/office/drawing/2014/main" id="{B0BFEDB6-F4B8-D47B-D592-3DEF117E9C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63339" y="2793882"/>
            <a:ext cx="1270236" cy="1270236"/>
          </a:xfrm>
          <a:prstGeom prst="rect">
            <a:avLst/>
          </a:prstGeom>
        </p:spPr>
      </p:pic>
      <p:sp>
        <p:nvSpPr>
          <p:cNvPr id="32" name="Rectangle: Rounded Corners 31">
            <a:extLst>
              <a:ext uri="{FF2B5EF4-FFF2-40B4-BE49-F238E27FC236}">
                <a16:creationId xmlns:a16="http://schemas.microsoft.com/office/drawing/2014/main" id="{8711ABD5-3D33-AE14-9577-D536223F4A27}"/>
              </a:ext>
            </a:extLst>
          </p:cNvPr>
          <p:cNvSpPr/>
          <p:nvPr/>
        </p:nvSpPr>
        <p:spPr>
          <a:xfrm>
            <a:off x="5065923" y="798963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 name="Graphic 32" descr="Bullseye with solid fill">
            <a:extLst>
              <a:ext uri="{FF2B5EF4-FFF2-40B4-BE49-F238E27FC236}">
                <a16:creationId xmlns:a16="http://schemas.microsoft.com/office/drawing/2014/main" id="{4C9D692F-45C9-B530-B73B-A073D9A68EA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20266" y="8300756"/>
            <a:ext cx="1151468" cy="1151468"/>
          </a:xfrm>
          <a:prstGeom prst="rect">
            <a:avLst/>
          </a:prstGeom>
        </p:spPr>
      </p:pic>
      <p:sp>
        <p:nvSpPr>
          <p:cNvPr id="34" name="Rectangle: Rounded Corners 33">
            <a:extLst>
              <a:ext uri="{FF2B5EF4-FFF2-40B4-BE49-F238E27FC236}">
                <a16:creationId xmlns:a16="http://schemas.microsoft.com/office/drawing/2014/main" id="{AEA1452F-27D1-7D5D-40F0-F9B3F0DF1B6C}"/>
              </a:ext>
            </a:extLst>
          </p:cNvPr>
          <p:cNvSpPr/>
          <p:nvPr/>
        </p:nvSpPr>
        <p:spPr>
          <a:xfrm>
            <a:off x="14308708"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Graphic 34" descr="Checklist with solid fill">
            <a:extLst>
              <a:ext uri="{FF2B5EF4-FFF2-40B4-BE49-F238E27FC236}">
                <a16:creationId xmlns:a16="http://schemas.microsoft.com/office/drawing/2014/main" id="{42E2542E-A232-F2C4-0443-C02443F1433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790144" y="2880359"/>
            <a:ext cx="1097282" cy="1097282"/>
          </a:xfrm>
          <a:prstGeom prst="rect">
            <a:avLst/>
          </a:prstGeom>
        </p:spPr>
      </p:pic>
      <p:pic>
        <p:nvPicPr>
          <p:cNvPr id="36" name="Picture 35">
            <a:extLst>
              <a:ext uri="{FF2B5EF4-FFF2-40B4-BE49-F238E27FC236}">
                <a16:creationId xmlns:a16="http://schemas.microsoft.com/office/drawing/2014/main" id="{00FE58FA-889B-A323-EF34-E9878D6CDFC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022564" y="2950653"/>
            <a:ext cx="1013482" cy="956694"/>
          </a:xfrm>
          <a:prstGeom prst="rect">
            <a:avLst/>
          </a:prstGeom>
        </p:spPr>
      </p:pic>
    </p:spTree>
    <p:extLst>
      <p:ext uri="{BB962C8B-B14F-4D97-AF65-F5344CB8AC3E}">
        <p14:creationId xmlns:p14="http://schemas.microsoft.com/office/powerpoint/2010/main" val="598548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E1DD1-7CF8-B48D-4ECB-F7F68AF12F5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492B966-D315-62EA-858C-9C5D6128D37F}"/>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BCA9F6A-4C38-EE1C-70DA-7AC645ADE971}"/>
              </a:ext>
            </a:extLst>
          </p:cNvPr>
          <p:cNvSpPr/>
          <p:nvPr/>
        </p:nvSpPr>
        <p:spPr>
          <a:xfrm>
            <a:off x="68488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679A397-604C-F55A-8F37-E41F30C81A5A}"/>
              </a:ext>
            </a:extLst>
          </p:cNvPr>
          <p:cNvSpPr/>
          <p:nvPr/>
        </p:nvSpPr>
        <p:spPr>
          <a:xfrm>
            <a:off x="2875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Customer review with solid fill">
            <a:extLst>
              <a:ext uri="{FF2B5EF4-FFF2-40B4-BE49-F238E27FC236}">
                <a16:creationId xmlns:a16="http://schemas.microsoft.com/office/drawing/2014/main" id="{05E7C4B1-C2E5-21B8-8257-B43C9109E01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227" y="2853267"/>
            <a:ext cx="1151467" cy="1151467"/>
          </a:xfrm>
          <a:prstGeom prst="rect">
            <a:avLst/>
          </a:prstGeom>
        </p:spPr>
      </p:pic>
      <p:pic>
        <p:nvPicPr>
          <p:cNvPr id="2" name="Graphic 1" descr="Scales of justice with solid fill">
            <a:extLst>
              <a:ext uri="{FF2B5EF4-FFF2-40B4-BE49-F238E27FC236}">
                <a16:creationId xmlns:a16="http://schemas.microsoft.com/office/drawing/2014/main" id="{E16ACA9C-8CDB-42DA-62D7-E22CBAF0F4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0362" y="2793882"/>
            <a:ext cx="1270236" cy="1270236"/>
          </a:xfrm>
          <a:prstGeom prst="rect">
            <a:avLst/>
          </a:prstGeom>
        </p:spPr>
      </p:pic>
      <p:sp>
        <p:nvSpPr>
          <p:cNvPr id="3" name="Rectangle: Rounded Corners 2">
            <a:extLst>
              <a:ext uri="{FF2B5EF4-FFF2-40B4-BE49-F238E27FC236}">
                <a16:creationId xmlns:a16="http://schemas.microsoft.com/office/drawing/2014/main" id="{5AF2663C-E1D9-9224-F08F-8A3E01D79FC6}"/>
              </a:ext>
            </a:extLst>
          </p:cNvPr>
          <p:cNvSpPr/>
          <p:nvPr/>
        </p:nvSpPr>
        <p:spPr>
          <a:xfrm>
            <a:off x="5065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Bullseye with solid fill">
            <a:extLst>
              <a:ext uri="{FF2B5EF4-FFF2-40B4-BE49-F238E27FC236}">
                <a16:creationId xmlns:a16="http://schemas.microsoft.com/office/drawing/2014/main" id="{84D3F363-08C0-D94E-D80F-D966C71C179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2853266"/>
            <a:ext cx="1151468" cy="1151468"/>
          </a:xfrm>
          <a:prstGeom prst="rect">
            <a:avLst/>
          </a:prstGeom>
        </p:spPr>
      </p:pic>
      <p:sp>
        <p:nvSpPr>
          <p:cNvPr id="7" name="Rectangle: Rounded Corners 6">
            <a:extLst>
              <a:ext uri="{FF2B5EF4-FFF2-40B4-BE49-F238E27FC236}">
                <a16:creationId xmlns:a16="http://schemas.microsoft.com/office/drawing/2014/main" id="{23A44738-AA4B-7120-611D-2258DE333A64}"/>
              </a:ext>
            </a:extLst>
          </p:cNvPr>
          <p:cNvSpPr/>
          <p:nvPr/>
        </p:nvSpPr>
        <p:spPr>
          <a:xfrm>
            <a:off x="7256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Checklist with solid fill">
            <a:extLst>
              <a:ext uri="{FF2B5EF4-FFF2-40B4-BE49-F238E27FC236}">
                <a16:creationId xmlns:a16="http://schemas.microsoft.com/office/drawing/2014/main" id="{2B814E84-4C39-029B-B1F6-467FB85755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7879" y="2880359"/>
            <a:ext cx="1097282" cy="1097282"/>
          </a:xfrm>
          <a:prstGeom prst="rect">
            <a:avLst/>
          </a:prstGeom>
        </p:spPr>
      </p:pic>
      <p:sp>
        <p:nvSpPr>
          <p:cNvPr id="13" name="Rectangle: Rounded Corners 12">
            <a:extLst>
              <a:ext uri="{FF2B5EF4-FFF2-40B4-BE49-F238E27FC236}">
                <a16:creationId xmlns:a16="http://schemas.microsoft.com/office/drawing/2014/main" id="{114705F0-1FA3-B60B-8304-E98535F9FE7B}"/>
              </a:ext>
            </a:extLst>
          </p:cNvPr>
          <p:cNvSpPr/>
          <p:nvPr/>
        </p:nvSpPr>
        <p:spPr>
          <a:xfrm>
            <a:off x="9446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A93AF82-547E-ADEF-8432-58832DBEED6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70299" y="2950653"/>
            <a:ext cx="1013482" cy="956694"/>
          </a:xfrm>
          <a:prstGeom prst="rect">
            <a:avLst/>
          </a:prstGeom>
        </p:spPr>
      </p:pic>
    </p:spTree>
    <p:extLst>
      <p:ext uri="{BB962C8B-B14F-4D97-AF65-F5344CB8AC3E}">
        <p14:creationId xmlns:p14="http://schemas.microsoft.com/office/powerpoint/2010/main" val="1474403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D5375-0816-9BC1-5977-80646865195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ABA02DE-F7C3-E0E1-41B6-10A7B817C4F1}"/>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7C1DBA6D-95C8-A65E-EE82-CDE2E114DEB1}"/>
              </a:ext>
            </a:extLst>
          </p:cNvPr>
          <p:cNvSpPr/>
          <p:nvPr/>
        </p:nvSpPr>
        <p:spPr>
          <a:xfrm>
            <a:off x="16083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descr="Scales of justice with solid fill">
            <a:extLst>
              <a:ext uri="{FF2B5EF4-FFF2-40B4-BE49-F238E27FC236}">
                <a16:creationId xmlns:a16="http://schemas.microsoft.com/office/drawing/2014/main" id="{2A76AB57-3493-2116-6CE5-975FD13F43D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478362" y="2793882"/>
            <a:ext cx="1270236" cy="1270236"/>
          </a:xfrm>
          <a:prstGeom prst="rect">
            <a:avLst/>
          </a:prstGeom>
        </p:spPr>
      </p:pic>
      <p:sp>
        <p:nvSpPr>
          <p:cNvPr id="3" name="Rectangle: Rounded Corners 2">
            <a:extLst>
              <a:ext uri="{FF2B5EF4-FFF2-40B4-BE49-F238E27FC236}">
                <a16:creationId xmlns:a16="http://schemas.microsoft.com/office/drawing/2014/main" id="{B08AF215-4CB8-C263-5F05-5EBCA5034962}"/>
              </a:ext>
            </a:extLst>
          </p:cNvPr>
          <p:cNvSpPr/>
          <p:nvPr/>
        </p:nvSpPr>
        <p:spPr>
          <a:xfrm>
            <a:off x="-685800" y="-355600"/>
            <a:ext cx="13538200" cy="7594600"/>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Customer review with solid fill">
            <a:extLst>
              <a:ext uri="{FF2B5EF4-FFF2-40B4-BE49-F238E27FC236}">
                <a16:creationId xmlns:a16="http://schemas.microsoft.com/office/drawing/2014/main" id="{377E314A-A039-4FF2-2BDE-E358897E6E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5100" y="1714501"/>
            <a:ext cx="3429000" cy="3429000"/>
          </a:xfrm>
          <a:prstGeom prst="rect">
            <a:avLst/>
          </a:prstGeom>
        </p:spPr>
      </p:pic>
      <p:sp>
        <p:nvSpPr>
          <p:cNvPr id="7" name="TextBox 6">
            <a:extLst>
              <a:ext uri="{FF2B5EF4-FFF2-40B4-BE49-F238E27FC236}">
                <a16:creationId xmlns:a16="http://schemas.microsoft.com/office/drawing/2014/main" id="{EA2A7614-5C55-751A-03F9-5800E7A3F32F}"/>
              </a:ext>
            </a:extLst>
          </p:cNvPr>
          <p:cNvSpPr txBox="1"/>
          <p:nvPr/>
        </p:nvSpPr>
        <p:spPr>
          <a:xfrm>
            <a:off x="3563705" y="349726"/>
            <a:ext cx="8216439" cy="5878532"/>
          </a:xfrm>
          <a:prstGeom prst="rect">
            <a:avLst/>
          </a:prstGeom>
          <a:noFill/>
        </p:spPr>
        <p:txBody>
          <a:bodyPr wrap="square" rtlCol="0">
            <a:spAutoFit/>
          </a:bodyPr>
          <a:lstStyle/>
          <a:p>
            <a:pPr algn="ctr"/>
            <a:r>
              <a:rPr lang="en-US" sz="3600" b="1" i="0" dirty="0">
                <a:solidFill>
                  <a:srgbClr val="FFFFFF"/>
                </a:solidFill>
                <a:effectLst/>
                <a:latin typeface="Switzerland Cond Black" panose="020B0500000000000000" pitchFamily="34" charset="0"/>
              </a:rPr>
              <a:t>Introduction</a:t>
            </a:r>
          </a:p>
          <a:p>
            <a:pPr algn="l"/>
            <a:endParaRPr lang="en-US" sz="1000" b="1" i="0" dirty="0">
              <a:solidFill>
                <a:srgbClr val="FFFFFF"/>
              </a:solidFill>
              <a:effectLst/>
              <a:latin typeface="Switzerland Cond Black" panose="020B0500000000000000" pitchFamily="34" charset="0"/>
            </a:endParaRPr>
          </a:p>
          <a:p>
            <a:pPr algn="l"/>
            <a:r>
              <a:rPr lang="en-US" sz="3200" b="1" i="0" dirty="0">
                <a:solidFill>
                  <a:srgbClr val="FFFFFF"/>
                </a:solidFill>
                <a:effectLst/>
                <a:latin typeface="+mj-lt"/>
              </a:rPr>
              <a:t>Title: Scientific Calculator</a:t>
            </a:r>
          </a:p>
          <a:p>
            <a:pPr algn="l"/>
            <a:endParaRPr lang="en-US" sz="1000" b="1" i="0" dirty="0">
              <a:solidFill>
                <a:srgbClr val="D1D5DB"/>
              </a:solidFill>
              <a:effectLst/>
              <a:latin typeface="+mj-lt"/>
            </a:endParaRPr>
          </a:p>
          <a:p>
            <a:pPr algn="just"/>
            <a:r>
              <a:rPr lang="en-US" sz="3200" b="0" i="0" dirty="0">
                <a:solidFill>
                  <a:schemeClr val="bg1"/>
                </a:solidFill>
                <a:effectLst/>
                <a:latin typeface="__Inter_d65c78"/>
              </a:rPr>
              <a:t>The scientific calculator is a versatile tool designed to perform a wide range of mathematical operations, from basic arithmetic to advanced functions such as trigonometry and logarithms. This project aims to create a user-friendly console-based calculator that enhances computational efficiency and accuracy, making it an essential resource for students, engineers, and anyone involved in mathematical tasks.</a:t>
            </a:r>
          </a:p>
        </p:txBody>
      </p:sp>
      <p:sp>
        <p:nvSpPr>
          <p:cNvPr id="8" name="Rectangle: Rounded Corners 7">
            <a:extLst>
              <a:ext uri="{FF2B5EF4-FFF2-40B4-BE49-F238E27FC236}">
                <a16:creationId xmlns:a16="http://schemas.microsoft.com/office/drawing/2014/main" id="{BA138D12-ACC8-6A11-35BE-434317A91EA5}"/>
              </a:ext>
            </a:extLst>
          </p:cNvPr>
          <p:cNvSpPr/>
          <p:nvPr/>
        </p:nvSpPr>
        <p:spPr>
          <a:xfrm>
            <a:off x="18273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descr="Bullseye with solid fill">
            <a:extLst>
              <a:ext uri="{FF2B5EF4-FFF2-40B4-BE49-F238E27FC236}">
                <a16:creationId xmlns:a16="http://schemas.microsoft.com/office/drawing/2014/main" id="{CD29B985-301F-8DAE-5C80-D5B246A9893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728266" y="2853266"/>
            <a:ext cx="1151468" cy="1151468"/>
          </a:xfrm>
          <a:prstGeom prst="rect">
            <a:avLst/>
          </a:prstGeom>
        </p:spPr>
      </p:pic>
      <p:sp>
        <p:nvSpPr>
          <p:cNvPr id="14" name="Rectangle: Rounded Corners 13">
            <a:extLst>
              <a:ext uri="{FF2B5EF4-FFF2-40B4-BE49-F238E27FC236}">
                <a16:creationId xmlns:a16="http://schemas.microsoft.com/office/drawing/2014/main" id="{7C7811F9-9819-4148-7785-5B22F2349D35}"/>
              </a:ext>
            </a:extLst>
          </p:cNvPr>
          <p:cNvSpPr/>
          <p:nvPr/>
        </p:nvSpPr>
        <p:spPr>
          <a:xfrm>
            <a:off x="20464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hecklist with solid fill">
            <a:extLst>
              <a:ext uri="{FF2B5EF4-FFF2-40B4-BE49-F238E27FC236}">
                <a16:creationId xmlns:a16="http://schemas.microsoft.com/office/drawing/2014/main" id="{CBCA0866-1BF3-B5DA-2A43-A18585210AD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0945879" y="2880359"/>
            <a:ext cx="1097282" cy="1097282"/>
          </a:xfrm>
          <a:prstGeom prst="rect">
            <a:avLst/>
          </a:prstGeom>
        </p:spPr>
      </p:pic>
      <p:sp>
        <p:nvSpPr>
          <p:cNvPr id="17" name="Rectangle: Rounded Corners 16">
            <a:extLst>
              <a:ext uri="{FF2B5EF4-FFF2-40B4-BE49-F238E27FC236}">
                <a16:creationId xmlns:a16="http://schemas.microsoft.com/office/drawing/2014/main" id="{D56369E9-69B4-F6AE-777D-ED790AF531AA}"/>
              </a:ext>
            </a:extLst>
          </p:cNvPr>
          <p:cNvSpPr/>
          <p:nvPr/>
        </p:nvSpPr>
        <p:spPr>
          <a:xfrm>
            <a:off x="22654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47F5BF0E-746A-D21E-3A5C-07F4CB42BE3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178299" y="2950653"/>
            <a:ext cx="1013482" cy="956694"/>
          </a:xfrm>
          <a:prstGeom prst="rect">
            <a:avLst/>
          </a:prstGeom>
        </p:spPr>
      </p:pic>
    </p:spTree>
    <p:extLst>
      <p:ext uri="{BB962C8B-B14F-4D97-AF65-F5344CB8AC3E}">
        <p14:creationId xmlns:p14="http://schemas.microsoft.com/office/powerpoint/2010/main" val="2575284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44E93-A882-24BD-B3AA-E3D74ECF288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1089A29-2AED-2C13-9828-09A91B2201F9}"/>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0D3267E-62D8-B3D2-F871-317D85B60FAB}"/>
              </a:ext>
            </a:extLst>
          </p:cNvPr>
          <p:cNvSpPr/>
          <p:nvPr/>
        </p:nvSpPr>
        <p:spPr>
          <a:xfrm>
            <a:off x="68488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737F78C-1F68-05BB-D452-21B070400512}"/>
              </a:ext>
            </a:extLst>
          </p:cNvPr>
          <p:cNvSpPr/>
          <p:nvPr/>
        </p:nvSpPr>
        <p:spPr>
          <a:xfrm>
            <a:off x="2875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Customer review with solid fill">
            <a:extLst>
              <a:ext uri="{FF2B5EF4-FFF2-40B4-BE49-F238E27FC236}">
                <a16:creationId xmlns:a16="http://schemas.microsoft.com/office/drawing/2014/main" id="{854DAE26-6BDE-F431-8A06-A7C838023A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227" y="2853267"/>
            <a:ext cx="1151467" cy="1151467"/>
          </a:xfrm>
          <a:prstGeom prst="rect">
            <a:avLst/>
          </a:prstGeom>
        </p:spPr>
      </p:pic>
      <p:pic>
        <p:nvPicPr>
          <p:cNvPr id="2" name="Graphic 1" descr="Scales of justice with solid fill">
            <a:extLst>
              <a:ext uri="{FF2B5EF4-FFF2-40B4-BE49-F238E27FC236}">
                <a16:creationId xmlns:a16="http://schemas.microsoft.com/office/drawing/2014/main" id="{960C0CD4-3648-E502-2793-AA4B5505CB5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0362" y="2793882"/>
            <a:ext cx="1270236" cy="1270236"/>
          </a:xfrm>
          <a:prstGeom prst="rect">
            <a:avLst/>
          </a:prstGeom>
        </p:spPr>
      </p:pic>
      <p:sp>
        <p:nvSpPr>
          <p:cNvPr id="3" name="Rectangle: Rounded Corners 2">
            <a:extLst>
              <a:ext uri="{FF2B5EF4-FFF2-40B4-BE49-F238E27FC236}">
                <a16:creationId xmlns:a16="http://schemas.microsoft.com/office/drawing/2014/main" id="{C2BDEB3B-914B-3EBC-B23B-57D4EB99EDD8}"/>
              </a:ext>
            </a:extLst>
          </p:cNvPr>
          <p:cNvSpPr/>
          <p:nvPr/>
        </p:nvSpPr>
        <p:spPr>
          <a:xfrm>
            <a:off x="5065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Bullseye with solid fill">
            <a:extLst>
              <a:ext uri="{FF2B5EF4-FFF2-40B4-BE49-F238E27FC236}">
                <a16:creationId xmlns:a16="http://schemas.microsoft.com/office/drawing/2014/main" id="{A0E0C407-DEAB-C9B8-0800-DE14B7B73E9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2853266"/>
            <a:ext cx="1151468" cy="1151468"/>
          </a:xfrm>
          <a:prstGeom prst="rect">
            <a:avLst/>
          </a:prstGeom>
        </p:spPr>
      </p:pic>
      <p:sp>
        <p:nvSpPr>
          <p:cNvPr id="7" name="Rectangle: Rounded Corners 6">
            <a:extLst>
              <a:ext uri="{FF2B5EF4-FFF2-40B4-BE49-F238E27FC236}">
                <a16:creationId xmlns:a16="http://schemas.microsoft.com/office/drawing/2014/main" id="{27D8B93C-79FB-E3D7-663C-EA8931357719}"/>
              </a:ext>
            </a:extLst>
          </p:cNvPr>
          <p:cNvSpPr/>
          <p:nvPr/>
        </p:nvSpPr>
        <p:spPr>
          <a:xfrm>
            <a:off x="7256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Checklist with solid fill">
            <a:extLst>
              <a:ext uri="{FF2B5EF4-FFF2-40B4-BE49-F238E27FC236}">
                <a16:creationId xmlns:a16="http://schemas.microsoft.com/office/drawing/2014/main" id="{61EDF691-BC4F-5EFA-9855-4C449535A6F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7879" y="2880359"/>
            <a:ext cx="1097282" cy="1097282"/>
          </a:xfrm>
          <a:prstGeom prst="rect">
            <a:avLst/>
          </a:prstGeom>
        </p:spPr>
      </p:pic>
      <p:sp>
        <p:nvSpPr>
          <p:cNvPr id="13" name="Rectangle: Rounded Corners 12">
            <a:extLst>
              <a:ext uri="{FF2B5EF4-FFF2-40B4-BE49-F238E27FC236}">
                <a16:creationId xmlns:a16="http://schemas.microsoft.com/office/drawing/2014/main" id="{840E5365-101F-A6B2-18BD-5D53A98A3AD4}"/>
              </a:ext>
            </a:extLst>
          </p:cNvPr>
          <p:cNvSpPr/>
          <p:nvPr/>
        </p:nvSpPr>
        <p:spPr>
          <a:xfrm>
            <a:off x="9446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06FA96F2-09C2-C0CA-1D6A-29037A77233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70299" y="2950653"/>
            <a:ext cx="1013482" cy="956694"/>
          </a:xfrm>
          <a:prstGeom prst="rect">
            <a:avLst/>
          </a:prstGeom>
        </p:spPr>
      </p:pic>
    </p:spTree>
    <p:extLst>
      <p:ext uri="{BB962C8B-B14F-4D97-AF65-F5344CB8AC3E}">
        <p14:creationId xmlns:p14="http://schemas.microsoft.com/office/powerpoint/2010/main" val="2196370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C150B-62EB-DAD1-2BB2-7DB700A0284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6283436-B748-5139-2CFB-0C6D874BCC12}"/>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F2BC3571-FAB2-EEE0-9977-C65B704235A3}"/>
              </a:ext>
            </a:extLst>
          </p:cNvPr>
          <p:cNvSpPr/>
          <p:nvPr/>
        </p:nvSpPr>
        <p:spPr>
          <a:xfrm>
            <a:off x="-859130" y="-584201"/>
            <a:ext cx="13825830" cy="8026402"/>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49988741-80F5-B94C-067E-4180F11B608E}"/>
              </a:ext>
            </a:extLst>
          </p:cNvPr>
          <p:cNvSpPr/>
          <p:nvPr/>
        </p:nvSpPr>
        <p:spPr>
          <a:xfrm>
            <a:off x="-6274717"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Customer review with solid fill">
            <a:extLst>
              <a:ext uri="{FF2B5EF4-FFF2-40B4-BE49-F238E27FC236}">
                <a16:creationId xmlns:a16="http://schemas.microsoft.com/office/drawing/2014/main" id="{54CA3DDD-0860-C75A-836B-501521F952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20373" y="2853267"/>
            <a:ext cx="1151467" cy="1151467"/>
          </a:xfrm>
          <a:prstGeom prst="rect">
            <a:avLst/>
          </a:prstGeom>
        </p:spPr>
      </p:pic>
      <p:sp>
        <p:nvSpPr>
          <p:cNvPr id="6" name="TextBox 5">
            <a:extLst>
              <a:ext uri="{FF2B5EF4-FFF2-40B4-BE49-F238E27FC236}">
                <a16:creationId xmlns:a16="http://schemas.microsoft.com/office/drawing/2014/main" id="{F63223AC-1721-4B18-9FE7-3BEFF2C3CE2B}"/>
              </a:ext>
            </a:extLst>
          </p:cNvPr>
          <p:cNvSpPr txBox="1"/>
          <p:nvPr/>
        </p:nvSpPr>
        <p:spPr>
          <a:xfrm>
            <a:off x="558908" y="333009"/>
            <a:ext cx="8432340" cy="6417141"/>
          </a:xfrm>
          <a:prstGeom prst="rect">
            <a:avLst/>
          </a:prstGeom>
          <a:noFill/>
        </p:spPr>
        <p:txBody>
          <a:bodyPr wrap="square" rtlCol="0">
            <a:spAutoFit/>
          </a:bodyPr>
          <a:lstStyle/>
          <a:p>
            <a:pPr algn="l"/>
            <a:r>
              <a:rPr lang="en-US" sz="2800" b="1" i="0" dirty="0">
                <a:solidFill>
                  <a:srgbClr val="FFFFFF"/>
                </a:solidFill>
                <a:effectLst/>
                <a:latin typeface="Switzerland Cond Black" panose="020B0500000000000000" pitchFamily="34" charset="0"/>
              </a:rPr>
              <a:t>Difference Between Manual &amp; Programmed Calculator</a:t>
            </a:r>
          </a:p>
          <a:p>
            <a:pPr algn="l"/>
            <a:endParaRPr lang="en-US" sz="900" b="1" i="0" dirty="0">
              <a:solidFill>
                <a:srgbClr val="FFFFFF"/>
              </a:solidFill>
              <a:effectLst/>
              <a:latin typeface="Switzerland Cond Black" panose="020B0500000000000000" pitchFamily="34" charset="0"/>
            </a:endParaRPr>
          </a:p>
          <a:p>
            <a:pPr algn="l"/>
            <a:r>
              <a:rPr lang="en-US" sz="2400" b="1" i="0" dirty="0">
                <a:solidFill>
                  <a:srgbClr val="FFFFFF"/>
                </a:solidFill>
                <a:effectLst/>
                <a:latin typeface="__Inter_d65c78"/>
              </a:rPr>
              <a:t>Manual Calculation:</a:t>
            </a:r>
          </a:p>
          <a:p>
            <a:pPr algn="l"/>
            <a:endParaRPr lang="en-US" sz="900" b="0" i="0" dirty="0">
              <a:solidFill>
                <a:srgbClr val="D1D5DB"/>
              </a:solidFill>
              <a:effectLst/>
              <a:latin typeface="__Inter_d65c78"/>
            </a:endParaRPr>
          </a:p>
          <a:p>
            <a:pPr marL="457200" indent="-457200" algn="just">
              <a:buFont typeface="Arial" panose="020B0604020202020204" pitchFamily="34" charset="0"/>
              <a:buChar char="•"/>
            </a:pPr>
            <a:r>
              <a:rPr lang="en-US" sz="2400" b="0" i="0" dirty="0">
                <a:solidFill>
                  <a:schemeClr val="bg1"/>
                </a:solidFill>
                <a:effectLst/>
                <a:latin typeface="__Inter_d65c78"/>
              </a:rPr>
              <a:t>Involves performing calculations by hand or using basic calculators.</a:t>
            </a:r>
          </a:p>
          <a:p>
            <a:pPr marL="457200" indent="-457200" algn="just">
              <a:buFont typeface="Arial" panose="020B0604020202020204" pitchFamily="34" charset="0"/>
              <a:buChar char="•"/>
            </a:pPr>
            <a:r>
              <a:rPr lang="en-US" sz="2400" b="0" i="0" dirty="0">
                <a:solidFill>
                  <a:schemeClr val="bg1"/>
                </a:solidFill>
                <a:effectLst/>
                <a:latin typeface="__Inter_d65c78"/>
              </a:rPr>
              <a:t>Prone to human error and time-consuming for complex operations.</a:t>
            </a:r>
          </a:p>
          <a:p>
            <a:pPr marL="457200" indent="-457200" algn="just">
              <a:buFont typeface="Arial" panose="020B0604020202020204" pitchFamily="34" charset="0"/>
              <a:buChar char="•"/>
            </a:pPr>
            <a:r>
              <a:rPr lang="en-US" sz="2400" b="0" i="0" dirty="0">
                <a:solidFill>
                  <a:schemeClr val="bg1"/>
                </a:solidFill>
                <a:effectLst/>
                <a:latin typeface="__Inter_d65c78"/>
              </a:rPr>
              <a:t>Limited to basic functions without advanced mathematical capabilities.</a:t>
            </a:r>
          </a:p>
          <a:p>
            <a:pPr marL="457200" indent="-457200" algn="just">
              <a:buFont typeface="Arial" panose="020B0604020202020204" pitchFamily="34" charset="0"/>
              <a:buChar char="•"/>
            </a:pPr>
            <a:endParaRPr lang="en-US" sz="900" b="0" i="0" dirty="0">
              <a:solidFill>
                <a:schemeClr val="bg1"/>
              </a:solidFill>
              <a:effectLst/>
              <a:latin typeface="__Inter_d65c78"/>
            </a:endParaRPr>
          </a:p>
          <a:p>
            <a:pPr algn="l"/>
            <a:r>
              <a:rPr lang="en-US" sz="2800" b="1" i="0" dirty="0">
                <a:solidFill>
                  <a:schemeClr val="bg1"/>
                </a:solidFill>
                <a:effectLst/>
                <a:latin typeface="__Inter_d65c78"/>
              </a:rPr>
              <a:t>Programmed Calculator:</a:t>
            </a:r>
          </a:p>
          <a:p>
            <a:pPr algn="l"/>
            <a:endParaRPr lang="en-US" sz="900" b="0" i="0" dirty="0">
              <a:solidFill>
                <a:schemeClr val="bg1"/>
              </a:solidFill>
              <a:effectLst/>
              <a:latin typeface="__Inter_d65c78"/>
            </a:endParaRPr>
          </a:p>
          <a:p>
            <a:pPr marL="342900" indent="-342900" algn="just">
              <a:buFont typeface="Arial" panose="020B0604020202020204" pitchFamily="34" charset="0"/>
              <a:buChar char="•"/>
            </a:pPr>
            <a:r>
              <a:rPr lang="en-US" sz="2400" b="0" i="0" dirty="0">
                <a:solidFill>
                  <a:schemeClr val="bg1"/>
                </a:solidFill>
                <a:effectLst/>
                <a:latin typeface="__Inter_d65c78"/>
              </a:rPr>
              <a:t>Automates calculations through coded algorithms, ensuring accuracy and speed.</a:t>
            </a:r>
          </a:p>
          <a:p>
            <a:pPr marL="342900" indent="-342900" algn="just">
              <a:buFont typeface="Arial" panose="020B0604020202020204" pitchFamily="34" charset="0"/>
              <a:buChar char="•"/>
            </a:pPr>
            <a:r>
              <a:rPr lang="en-US" sz="2400" b="0" i="0" dirty="0">
                <a:solidFill>
                  <a:schemeClr val="bg1"/>
                </a:solidFill>
                <a:effectLst/>
                <a:latin typeface="__Inter_d65c78"/>
              </a:rPr>
              <a:t>Supports a wide range of functions, including trigonometric, logarithmic, and hyperbolic calculations.</a:t>
            </a:r>
          </a:p>
          <a:p>
            <a:pPr marL="342900" indent="-342900" algn="just">
              <a:buFont typeface="Arial" panose="020B0604020202020204" pitchFamily="34" charset="0"/>
              <a:buChar char="•"/>
            </a:pPr>
            <a:r>
              <a:rPr lang="en-US" sz="2400" b="0" i="0" dirty="0">
                <a:solidFill>
                  <a:schemeClr val="bg1"/>
                </a:solidFill>
                <a:effectLst/>
                <a:latin typeface="__Inter_d65c78"/>
              </a:rPr>
              <a:t>Provides a user-friendly interface that enhances the user experience and allows for quick access to various operations.</a:t>
            </a:r>
          </a:p>
        </p:txBody>
      </p:sp>
      <p:pic>
        <p:nvPicPr>
          <p:cNvPr id="7" name="Graphic 6" descr="Scales of justice with solid fill">
            <a:extLst>
              <a:ext uri="{FF2B5EF4-FFF2-40B4-BE49-F238E27FC236}">
                <a16:creationId xmlns:a16="http://schemas.microsoft.com/office/drawing/2014/main" id="{CB7A0D61-7C7F-2C94-7894-1C2F4EF08A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00208" y="1581250"/>
            <a:ext cx="2901850" cy="2901850"/>
          </a:xfrm>
          <a:prstGeom prst="rect">
            <a:avLst/>
          </a:prstGeom>
        </p:spPr>
      </p:pic>
      <p:sp>
        <p:nvSpPr>
          <p:cNvPr id="20" name="Rectangle: Rounded Corners 19">
            <a:extLst>
              <a:ext uri="{FF2B5EF4-FFF2-40B4-BE49-F238E27FC236}">
                <a16:creationId xmlns:a16="http://schemas.microsoft.com/office/drawing/2014/main" id="{2BDAF993-DBA4-669C-F100-142401B9AB07}"/>
              </a:ext>
            </a:extLst>
          </p:cNvPr>
          <p:cNvSpPr/>
          <p:nvPr/>
        </p:nvSpPr>
        <p:spPr>
          <a:xfrm>
            <a:off x="1426026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descr="Bullseye with solid fill">
            <a:extLst>
              <a:ext uri="{FF2B5EF4-FFF2-40B4-BE49-F238E27FC236}">
                <a16:creationId xmlns:a16="http://schemas.microsoft.com/office/drawing/2014/main" id="{DFE7FD01-9E80-BF78-8090-FAD484A32D6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714606" y="2853266"/>
            <a:ext cx="1151468" cy="1151468"/>
          </a:xfrm>
          <a:prstGeom prst="rect">
            <a:avLst/>
          </a:prstGeom>
        </p:spPr>
      </p:pic>
      <p:sp>
        <p:nvSpPr>
          <p:cNvPr id="22" name="Rectangle: Rounded Corners 21">
            <a:extLst>
              <a:ext uri="{FF2B5EF4-FFF2-40B4-BE49-F238E27FC236}">
                <a16:creationId xmlns:a16="http://schemas.microsoft.com/office/drawing/2014/main" id="{3CAE069A-E47B-33B7-F206-6CB106463795}"/>
              </a:ext>
            </a:extLst>
          </p:cNvPr>
          <p:cNvSpPr/>
          <p:nvPr/>
        </p:nvSpPr>
        <p:spPr>
          <a:xfrm>
            <a:off x="1645078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Checklist with solid fill">
            <a:extLst>
              <a:ext uri="{FF2B5EF4-FFF2-40B4-BE49-F238E27FC236}">
                <a16:creationId xmlns:a16="http://schemas.microsoft.com/office/drawing/2014/main" id="{7918A728-DE6C-D7DF-390F-2E43DF3DA77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932219" y="2880359"/>
            <a:ext cx="1097282" cy="1097282"/>
          </a:xfrm>
          <a:prstGeom prst="rect">
            <a:avLst/>
          </a:prstGeom>
        </p:spPr>
      </p:pic>
      <p:sp>
        <p:nvSpPr>
          <p:cNvPr id="26" name="Rectangle: Rounded Corners 25">
            <a:extLst>
              <a:ext uri="{FF2B5EF4-FFF2-40B4-BE49-F238E27FC236}">
                <a16:creationId xmlns:a16="http://schemas.microsoft.com/office/drawing/2014/main" id="{03029792-06DA-42AB-6E69-6EAD000DF6BA}"/>
              </a:ext>
            </a:extLst>
          </p:cNvPr>
          <p:cNvSpPr/>
          <p:nvPr/>
        </p:nvSpPr>
        <p:spPr>
          <a:xfrm>
            <a:off x="1864130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49E2A22F-B988-0EFA-5B6C-3C1A47750DE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9164639" y="2950653"/>
            <a:ext cx="1013482" cy="956694"/>
          </a:xfrm>
          <a:prstGeom prst="rect">
            <a:avLst/>
          </a:prstGeom>
        </p:spPr>
      </p:pic>
    </p:spTree>
    <p:extLst>
      <p:ext uri="{BB962C8B-B14F-4D97-AF65-F5344CB8AC3E}">
        <p14:creationId xmlns:p14="http://schemas.microsoft.com/office/powerpoint/2010/main" val="2066077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6B046-15EE-F753-FEBF-ED1ED3A4EB0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276102-B884-7F93-1A5A-73FF23AEE639}"/>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61F5A33-9A57-2FB8-CAAB-7A835E6AB0D8}"/>
              </a:ext>
            </a:extLst>
          </p:cNvPr>
          <p:cNvSpPr/>
          <p:nvPr/>
        </p:nvSpPr>
        <p:spPr>
          <a:xfrm>
            <a:off x="68488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Customer review with solid fill">
            <a:extLst>
              <a:ext uri="{FF2B5EF4-FFF2-40B4-BE49-F238E27FC236}">
                <a16:creationId xmlns:a16="http://schemas.microsoft.com/office/drawing/2014/main" id="{E792A627-128E-9680-5F93-74570AF71D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227" y="2853267"/>
            <a:ext cx="1151467" cy="1151467"/>
          </a:xfrm>
          <a:prstGeom prst="rect">
            <a:avLst/>
          </a:prstGeom>
        </p:spPr>
      </p:pic>
      <p:sp>
        <p:nvSpPr>
          <p:cNvPr id="2" name="Rectangle: Rounded Corners 1">
            <a:extLst>
              <a:ext uri="{FF2B5EF4-FFF2-40B4-BE49-F238E27FC236}">
                <a16:creationId xmlns:a16="http://schemas.microsoft.com/office/drawing/2014/main" id="{716E78CE-4B09-B457-A7BD-8A7643B87BDE}"/>
              </a:ext>
            </a:extLst>
          </p:cNvPr>
          <p:cNvSpPr/>
          <p:nvPr/>
        </p:nvSpPr>
        <p:spPr>
          <a:xfrm>
            <a:off x="2875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Graphic 2" descr="Scales of justice with solid fill">
            <a:extLst>
              <a:ext uri="{FF2B5EF4-FFF2-40B4-BE49-F238E27FC236}">
                <a16:creationId xmlns:a16="http://schemas.microsoft.com/office/drawing/2014/main" id="{2644813A-55F1-45CE-7599-A39128FD170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0362" y="2793882"/>
            <a:ext cx="1270236" cy="1270236"/>
          </a:xfrm>
          <a:prstGeom prst="rect">
            <a:avLst/>
          </a:prstGeom>
        </p:spPr>
      </p:pic>
      <p:sp>
        <p:nvSpPr>
          <p:cNvPr id="6" name="Rectangle: Rounded Corners 5">
            <a:extLst>
              <a:ext uri="{FF2B5EF4-FFF2-40B4-BE49-F238E27FC236}">
                <a16:creationId xmlns:a16="http://schemas.microsoft.com/office/drawing/2014/main" id="{9E9393E0-DDF5-617B-42B7-25BFBDC19D5B}"/>
              </a:ext>
            </a:extLst>
          </p:cNvPr>
          <p:cNvSpPr/>
          <p:nvPr/>
        </p:nvSpPr>
        <p:spPr>
          <a:xfrm>
            <a:off x="5065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Bullseye with solid fill">
            <a:extLst>
              <a:ext uri="{FF2B5EF4-FFF2-40B4-BE49-F238E27FC236}">
                <a16:creationId xmlns:a16="http://schemas.microsoft.com/office/drawing/2014/main" id="{FFBF6528-A0F8-4623-BA33-32570F8E8BE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2853266"/>
            <a:ext cx="1151468" cy="1151468"/>
          </a:xfrm>
          <a:prstGeom prst="rect">
            <a:avLst/>
          </a:prstGeom>
        </p:spPr>
      </p:pic>
      <p:sp>
        <p:nvSpPr>
          <p:cNvPr id="8" name="Rectangle: Rounded Corners 7">
            <a:extLst>
              <a:ext uri="{FF2B5EF4-FFF2-40B4-BE49-F238E27FC236}">
                <a16:creationId xmlns:a16="http://schemas.microsoft.com/office/drawing/2014/main" id="{390FFA79-79A3-EA36-A949-B345F4D062E4}"/>
              </a:ext>
            </a:extLst>
          </p:cNvPr>
          <p:cNvSpPr/>
          <p:nvPr/>
        </p:nvSpPr>
        <p:spPr>
          <a:xfrm>
            <a:off x="7256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descr="Checklist with solid fill">
            <a:extLst>
              <a:ext uri="{FF2B5EF4-FFF2-40B4-BE49-F238E27FC236}">
                <a16:creationId xmlns:a16="http://schemas.microsoft.com/office/drawing/2014/main" id="{B0FD6500-36B7-8FCF-011B-0F031410BD2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7879" y="2880359"/>
            <a:ext cx="1097282" cy="1097282"/>
          </a:xfrm>
          <a:prstGeom prst="rect">
            <a:avLst/>
          </a:prstGeom>
        </p:spPr>
      </p:pic>
      <p:sp>
        <p:nvSpPr>
          <p:cNvPr id="14" name="Rectangle: Rounded Corners 13">
            <a:extLst>
              <a:ext uri="{FF2B5EF4-FFF2-40B4-BE49-F238E27FC236}">
                <a16:creationId xmlns:a16="http://schemas.microsoft.com/office/drawing/2014/main" id="{7B5C4837-1713-8B8A-9EDA-821B2FBE78AA}"/>
              </a:ext>
            </a:extLst>
          </p:cNvPr>
          <p:cNvSpPr/>
          <p:nvPr/>
        </p:nvSpPr>
        <p:spPr>
          <a:xfrm>
            <a:off x="9446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385B0699-24B8-6723-421D-B441847BFC1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70299" y="2950653"/>
            <a:ext cx="1013482" cy="956694"/>
          </a:xfrm>
          <a:prstGeom prst="rect">
            <a:avLst/>
          </a:prstGeom>
        </p:spPr>
      </p:pic>
    </p:spTree>
    <p:extLst>
      <p:ext uri="{BB962C8B-B14F-4D97-AF65-F5344CB8AC3E}">
        <p14:creationId xmlns:p14="http://schemas.microsoft.com/office/powerpoint/2010/main" val="9502430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F387-984B-B419-5A28-0EB2FE65EA2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BDBE0E4-62E6-8B47-17AD-7A6919039C91}"/>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540811E6-A5A3-FB54-AE19-C959CF033DF6}"/>
              </a:ext>
            </a:extLst>
          </p:cNvPr>
          <p:cNvSpPr/>
          <p:nvPr/>
        </p:nvSpPr>
        <p:spPr>
          <a:xfrm>
            <a:off x="-453957" y="-1215957"/>
            <a:ext cx="13099914" cy="9289914"/>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F031D57-06CA-0018-E4CA-E50FC71DCE99}"/>
              </a:ext>
            </a:extLst>
          </p:cNvPr>
          <p:cNvSpPr/>
          <p:nvPr/>
        </p:nvSpPr>
        <p:spPr>
          <a:xfrm>
            <a:off x="-8908972"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Customer review with solid fill">
            <a:extLst>
              <a:ext uri="{FF2B5EF4-FFF2-40B4-BE49-F238E27FC236}">
                <a16:creationId xmlns:a16="http://schemas.microsoft.com/office/drawing/2014/main" id="{831A39A9-069F-BFCD-715B-06F4ED5F0A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54628" y="2853267"/>
            <a:ext cx="1151467" cy="1151467"/>
          </a:xfrm>
          <a:prstGeom prst="rect">
            <a:avLst/>
          </a:prstGeom>
        </p:spPr>
      </p:pic>
      <p:sp>
        <p:nvSpPr>
          <p:cNvPr id="2" name="Rectangle: Rounded Corners 1">
            <a:extLst>
              <a:ext uri="{FF2B5EF4-FFF2-40B4-BE49-F238E27FC236}">
                <a16:creationId xmlns:a16="http://schemas.microsoft.com/office/drawing/2014/main" id="{4D13EDE9-8B0C-78A2-06BC-A6EC19AF5D90}"/>
              </a:ext>
            </a:extLst>
          </p:cNvPr>
          <p:cNvSpPr/>
          <p:nvPr/>
        </p:nvSpPr>
        <p:spPr>
          <a:xfrm>
            <a:off x="-6718452"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descr="Scales of justice with solid fill">
            <a:extLst>
              <a:ext uri="{FF2B5EF4-FFF2-40B4-BE49-F238E27FC236}">
                <a16:creationId xmlns:a16="http://schemas.microsoft.com/office/drawing/2014/main" id="{967F5E85-EBE1-9140-4774-608C04E4A05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23493" y="2793882"/>
            <a:ext cx="1270236" cy="1270236"/>
          </a:xfrm>
          <a:prstGeom prst="rect">
            <a:avLst/>
          </a:prstGeom>
        </p:spPr>
      </p:pic>
      <p:pic>
        <p:nvPicPr>
          <p:cNvPr id="7" name="Graphic 6" descr="Bullseye with solid fill">
            <a:extLst>
              <a:ext uri="{FF2B5EF4-FFF2-40B4-BE49-F238E27FC236}">
                <a16:creationId xmlns:a16="http://schemas.microsoft.com/office/drawing/2014/main" id="{DEB32D58-BF98-9701-8686-15AAA79AED7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7185" y="1848755"/>
            <a:ext cx="3092896" cy="3092896"/>
          </a:xfrm>
          <a:prstGeom prst="rect">
            <a:avLst/>
          </a:prstGeom>
        </p:spPr>
      </p:pic>
      <p:sp>
        <p:nvSpPr>
          <p:cNvPr id="10" name="TextBox 9">
            <a:extLst>
              <a:ext uri="{FF2B5EF4-FFF2-40B4-BE49-F238E27FC236}">
                <a16:creationId xmlns:a16="http://schemas.microsoft.com/office/drawing/2014/main" id="{97A27C40-8358-DE0C-6EDF-EE19BDF8FE43}"/>
              </a:ext>
            </a:extLst>
          </p:cNvPr>
          <p:cNvSpPr txBox="1"/>
          <p:nvPr/>
        </p:nvSpPr>
        <p:spPr>
          <a:xfrm>
            <a:off x="3356177" y="919877"/>
            <a:ext cx="8261472" cy="4747453"/>
          </a:xfrm>
          <a:prstGeom prst="rect">
            <a:avLst/>
          </a:prstGeom>
          <a:noFill/>
          <a:ln>
            <a:noFill/>
          </a:ln>
        </p:spPr>
        <p:txBody>
          <a:bodyPr wrap="square" rtlCol="0">
            <a:spAutoFit/>
          </a:bodyPr>
          <a:lstStyle/>
          <a:p>
            <a:pPr algn="ctr"/>
            <a:r>
              <a:rPr lang="en-US" sz="3600" b="1" i="0" dirty="0">
                <a:solidFill>
                  <a:srgbClr val="FFFFFF"/>
                </a:solidFill>
                <a:effectLst/>
                <a:latin typeface="Switzerland Cond Black" panose="020B0500000000000000" pitchFamily="34" charset="0"/>
              </a:rPr>
              <a:t>Purpose</a:t>
            </a:r>
          </a:p>
          <a:p>
            <a:pPr algn="ctr"/>
            <a:endParaRPr lang="en-US" sz="1050" b="1" i="0" dirty="0">
              <a:solidFill>
                <a:srgbClr val="FFFFFF"/>
              </a:solidFill>
              <a:effectLst/>
              <a:latin typeface="Switzerland Cond Black" panose="020B0500000000000000" pitchFamily="34" charset="0"/>
            </a:endParaRPr>
          </a:p>
          <a:p>
            <a:pPr marL="457200" indent="-457200" algn="just">
              <a:buFont typeface="Arial" panose="020B0604020202020204" pitchFamily="34" charset="0"/>
              <a:buChar char="•"/>
            </a:pPr>
            <a:r>
              <a:rPr lang="en-US" sz="3200" b="0" i="0" dirty="0">
                <a:solidFill>
                  <a:schemeClr val="bg1"/>
                </a:solidFill>
                <a:effectLst/>
                <a:latin typeface="__Inter_d65c78"/>
              </a:rPr>
              <a:t>The primary purpose of this scientific calculator project is to provide users with a reliable and efficient tool for performing complex mathematical calculations. By integrating various functions and ensuring ease of use, the calculator aims to facilitate learning, improve productivity, and support users in academic and professional settings.</a:t>
            </a:r>
          </a:p>
        </p:txBody>
      </p:sp>
      <p:sp>
        <p:nvSpPr>
          <p:cNvPr id="18" name="Rectangle: Rounded Corners 17">
            <a:extLst>
              <a:ext uri="{FF2B5EF4-FFF2-40B4-BE49-F238E27FC236}">
                <a16:creationId xmlns:a16="http://schemas.microsoft.com/office/drawing/2014/main" id="{FC508A90-9D2F-1171-4397-DF74C68B1164}"/>
              </a:ext>
            </a:extLst>
          </p:cNvPr>
          <p:cNvSpPr/>
          <p:nvPr/>
        </p:nvSpPr>
        <p:spPr>
          <a:xfrm>
            <a:off x="16002134"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descr="Checklist with solid fill">
            <a:extLst>
              <a:ext uri="{FF2B5EF4-FFF2-40B4-BE49-F238E27FC236}">
                <a16:creationId xmlns:a16="http://schemas.microsoft.com/office/drawing/2014/main" id="{FDD7EF91-A7E4-B4A7-D8E4-2CE70AD2594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483570" y="2880359"/>
            <a:ext cx="1097282" cy="1097282"/>
          </a:xfrm>
          <a:prstGeom prst="rect">
            <a:avLst/>
          </a:prstGeom>
        </p:spPr>
      </p:pic>
      <p:sp>
        <p:nvSpPr>
          <p:cNvPr id="20" name="Rectangle: Rounded Corners 19">
            <a:extLst>
              <a:ext uri="{FF2B5EF4-FFF2-40B4-BE49-F238E27FC236}">
                <a16:creationId xmlns:a16="http://schemas.microsoft.com/office/drawing/2014/main" id="{3DAF6128-0F67-2C23-0BEB-B67235BB3911}"/>
              </a:ext>
            </a:extLst>
          </p:cNvPr>
          <p:cNvSpPr/>
          <p:nvPr/>
        </p:nvSpPr>
        <p:spPr>
          <a:xfrm>
            <a:off x="182861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40425C6C-C18F-4A00-C574-AD8B729EE56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809499" y="2950653"/>
            <a:ext cx="1013482" cy="956694"/>
          </a:xfrm>
          <a:prstGeom prst="rect">
            <a:avLst/>
          </a:prstGeom>
        </p:spPr>
      </p:pic>
    </p:spTree>
    <p:extLst>
      <p:ext uri="{BB962C8B-B14F-4D97-AF65-F5344CB8AC3E}">
        <p14:creationId xmlns:p14="http://schemas.microsoft.com/office/powerpoint/2010/main" val="1192436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85F4A-FE00-D60F-0262-068946C3B52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7DD0CF4-7168-BD38-6FE1-24260D5899A7}"/>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CEFCDEF4-C68B-4D76-B70B-E5D7A5A84930}"/>
              </a:ext>
            </a:extLst>
          </p:cNvPr>
          <p:cNvSpPr/>
          <p:nvPr/>
        </p:nvSpPr>
        <p:spPr>
          <a:xfrm>
            <a:off x="68488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5B5AFDF7-24FA-1090-ED84-1C011D57B9F3}"/>
              </a:ext>
            </a:extLst>
          </p:cNvPr>
          <p:cNvSpPr/>
          <p:nvPr/>
        </p:nvSpPr>
        <p:spPr>
          <a:xfrm>
            <a:off x="2875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descr="Customer review with solid fill">
            <a:extLst>
              <a:ext uri="{FF2B5EF4-FFF2-40B4-BE49-F238E27FC236}">
                <a16:creationId xmlns:a16="http://schemas.microsoft.com/office/drawing/2014/main" id="{1751F60C-3BE6-99AA-B9BC-20A7228C5F8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227" y="2853267"/>
            <a:ext cx="1151467" cy="1151467"/>
          </a:xfrm>
          <a:prstGeom prst="rect">
            <a:avLst/>
          </a:prstGeom>
        </p:spPr>
      </p:pic>
      <p:pic>
        <p:nvPicPr>
          <p:cNvPr id="2" name="Graphic 1" descr="Scales of justice with solid fill">
            <a:extLst>
              <a:ext uri="{FF2B5EF4-FFF2-40B4-BE49-F238E27FC236}">
                <a16:creationId xmlns:a16="http://schemas.microsoft.com/office/drawing/2014/main" id="{8CD780A8-E0ED-FB9C-3B69-0B683B1A74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0362" y="2793882"/>
            <a:ext cx="1270236" cy="1270236"/>
          </a:xfrm>
          <a:prstGeom prst="rect">
            <a:avLst/>
          </a:prstGeom>
        </p:spPr>
      </p:pic>
      <p:sp>
        <p:nvSpPr>
          <p:cNvPr id="3" name="Rectangle: Rounded Corners 2">
            <a:extLst>
              <a:ext uri="{FF2B5EF4-FFF2-40B4-BE49-F238E27FC236}">
                <a16:creationId xmlns:a16="http://schemas.microsoft.com/office/drawing/2014/main" id="{93A8D15F-89ED-7FD9-8B30-4AF153BDA62F}"/>
              </a:ext>
            </a:extLst>
          </p:cNvPr>
          <p:cNvSpPr/>
          <p:nvPr/>
        </p:nvSpPr>
        <p:spPr>
          <a:xfrm>
            <a:off x="5065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Bullseye with solid fill">
            <a:extLst>
              <a:ext uri="{FF2B5EF4-FFF2-40B4-BE49-F238E27FC236}">
                <a16:creationId xmlns:a16="http://schemas.microsoft.com/office/drawing/2014/main" id="{3B96C9C7-4F8C-1C1E-BF83-70223A77A01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2853266"/>
            <a:ext cx="1151468" cy="1151468"/>
          </a:xfrm>
          <a:prstGeom prst="rect">
            <a:avLst/>
          </a:prstGeom>
        </p:spPr>
      </p:pic>
      <p:sp>
        <p:nvSpPr>
          <p:cNvPr id="8" name="Rectangle: Rounded Corners 7">
            <a:extLst>
              <a:ext uri="{FF2B5EF4-FFF2-40B4-BE49-F238E27FC236}">
                <a16:creationId xmlns:a16="http://schemas.microsoft.com/office/drawing/2014/main" id="{0DB9065D-C053-0AB1-4109-E6104586D349}"/>
              </a:ext>
            </a:extLst>
          </p:cNvPr>
          <p:cNvSpPr/>
          <p:nvPr/>
        </p:nvSpPr>
        <p:spPr>
          <a:xfrm>
            <a:off x="7256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Checklist with solid fill">
            <a:extLst>
              <a:ext uri="{FF2B5EF4-FFF2-40B4-BE49-F238E27FC236}">
                <a16:creationId xmlns:a16="http://schemas.microsoft.com/office/drawing/2014/main" id="{77286C62-50EB-4DF5-9EE4-55E1BD29C18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7879" y="2880359"/>
            <a:ext cx="1097282" cy="1097282"/>
          </a:xfrm>
          <a:prstGeom prst="rect">
            <a:avLst/>
          </a:prstGeom>
        </p:spPr>
      </p:pic>
      <p:sp>
        <p:nvSpPr>
          <p:cNvPr id="13" name="Rectangle: Rounded Corners 12">
            <a:extLst>
              <a:ext uri="{FF2B5EF4-FFF2-40B4-BE49-F238E27FC236}">
                <a16:creationId xmlns:a16="http://schemas.microsoft.com/office/drawing/2014/main" id="{E45807F0-D803-C155-23F3-F1B1872C626B}"/>
              </a:ext>
            </a:extLst>
          </p:cNvPr>
          <p:cNvSpPr/>
          <p:nvPr/>
        </p:nvSpPr>
        <p:spPr>
          <a:xfrm>
            <a:off x="9446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2143B4E6-979B-6D35-68FB-E85A129272E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70299" y="2950653"/>
            <a:ext cx="1013482" cy="956694"/>
          </a:xfrm>
          <a:prstGeom prst="rect">
            <a:avLst/>
          </a:prstGeom>
        </p:spPr>
      </p:pic>
      <p:pic>
        <p:nvPicPr>
          <p:cNvPr id="16" name="Picture 15">
            <a:extLst>
              <a:ext uri="{FF2B5EF4-FFF2-40B4-BE49-F238E27FC236}">
                <a16:creationId xmlns:a16="http://schemas.microsoft.com/office/drawing/2014/main" id="{2729323D-D027-BA56-7628-FED0A0F93CD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565705" y="2286232"/>
            <a:ext cx="4447748" cy="3555771"/>
          </a:xfrm>
          <a:prstGeom prst="rect">
            <a:avLst/>
          </a:prstGeom>
        </p:spPr>
      </p:pic>
    </p:spTree>
    <p:extLst>
      <p:ext uri="{BB962C8B-B14F-4D97-AF65-F5344CB8AC3E}">
        <p14:creationId xmlns:p14="http://schemas.microsoft.com/office/powerpoint/2010/main" val="1169246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24C0F-6475-3F6E-12F8-D80F9405821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3CD7B33-B200-CA25-40CA-E156064BE758}"/>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82B07EC-14F5-9520-D496-9996D4EB0B38}"/>
              </a:ext>
            </a:extLst>
          </p:cNvPr>
          <p:cNvSpPr/>
          <p:nvPr/>
        </p:nvSpPr>
        <p:spPr>
          <a:xfrm>
            <a:off x="-509081" y="-826851"/>
            <a:ext cx="13210162" cy="8511702"/>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CCBB892-2EB5-FBC6-1ACE-D975F0DC6936}"/>
              </a:ext>
            </a:extLst>
          </p:cNvPr>
          <p:cNvSpPr txBox="1"/>
          <p:nvPr/>
        </p:nvSpPr>
        <p:spPr>
          <a:xfrm>
            <a:off x="641426" y="272633"/>
            <a:ext cx="7841634" cy="2369880"/>
          </a:xfrm>
          <a:prstGeom prst="rect">
            <a:avLst/>
          </a:prstGeom>
          <a:noFill/>
          <a:ln>
            <a:noFill/>
          </a:ln>
        </p:spPr>
        <p:txBody>
          <a:bodyPr wrap="square" rtlCol="0">
            <a:spAutoFit/>
          </a:bodyPr>
          <a:lstStyle/>
          <a:p>
            <a:pPr algn="ctr"/>
            <a:r>
              <a:rPr lang="en-US" sz="3600" b="1" i="0" dirty="0">
                <a:solidFill>
                  <a:srgbClr val="FFFFFF"/>
                </a:solidFill>
                <a:effectLst/>
                <a:latin typeface="Switzerland Cond Black" panose="020B0500000000000000" pitchFamily="34" charset="0"/>
              </a:rPr>
              <a:t>Output Screenshot Description</a:t>
            </a:r>
          </a:p>
          <a:p>
            <a:pPr algn="ctr"/>
            <a:endParaRPr lang="en-US" sz="1200" b="1" i="0" dirty="0">
              <a:solidFill>
                <a:srgbClr val="FFFFFF"/>
              </a:solidFill>
              <a:effectLst/>
              <a:latin typeface="Switzerland Cond Black" panose="020B0500000000000000" pitchFamily="34" charset="0"/>
            </a:endParaRPr>
          </a:p>
          <a:p>
            <a:pPr algn="just">
              <a:tabLst>
                <a:tab pos="114300" algn="l"/>
              </a:tabLst>
            </a:pPr>
            <a:r>
              <a:rPr lang="en-US" sz="2500" b="0" i="0" dirty="0">
                <a:solidFill>
                  <a:schemeClr val="bg1"/>
                </a:solidFill>
                <a:effectLst/>
                <a:latin typeface="__Inter_d65c78"/>
              </a:rPr>
              <a:t>The output of the scientific calculator is displayed in a console window, showcasing the current result of calculations along with a clear and organized menu of available operations. </a:t>
            </a:r>
          </a:p>
        </p:txBody>
      </p:sp>
      <p:pic>
        <p:nvPicPr>
          <p:cNvPr id="6" name="Graphic 5" descr="Checklist with solid fill">
            <a:extLst>
              <a:ext uri="{FF2B5EF4-FFF2-40B4-BE49-F238E27FC236}">
                <a16:creationId xmlns:a16="http://schemas.microsoft.com/office/drawing/2014/main" id="{A92E45F9-7FF6-5ED2-EC32-ADBFC471340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37600" y="1799147"/>
            <a:ext cx="3259705" cy="3259705"/>
          </a:xfrm>
          <a:prstGeom prst="rect">
            <a:avLst/>
          </a:prstGeom>
        </p:spPr>
      </p:pic>
      <p:sp>
        <p:nvSpPr>
          <p:cNvPr id="20" name="Rectangle: Rounded Corners 19">
            <a:extLst>
              <a:ext uri="{FF2B5EF4-FFF2-40B4-BE49-F238E27FC236}">
                <a16:creationId xmlns:a16="http://schemas.microsoft.com/office/drawing/2014/main" id="{FA705A78-FC84-A8B4-49F8-7BB9C05A4032}"/>
              </a:ext>
            </a:extLst>
          </p:cNvPr>
          <p:cNvSpPr/>
          <p:nvPr/>
        </p:nvSpPr>
        <p:spPr>
          <a:xfrm>
            <a:off x="-897735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BC1062B2-6D20-C50D-7C2B-B58EA71CB4FE}"/>
              </a:ext>
            </a:extLst>
          </p:cNvPr>
          <p:cNvSpPr/>
          <p:nvPr/>
        </p:nvSpPr>
        <p:spPr>
          <a:xfrm>
            <a:off x="-678683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descr="Customer review with solid fill">
            <a:extLst>
              <a:ext uri="{FF2B5EF4-FFF2-40B4-BE49-F238E27FC236}">
                <a16:creationId xmlns:a16="http://schemas.microsoft.com/office/drawing/2014/main" id="{685D9705-EF2D-7826-BA3A-8F2CF70BC8C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23009" y="2853267"/>
            <a:ext cx="1151467" cy="1151467"/>
          </a:xfrm>
          <a:prstGeom prst="rect">
            <a:avLst/>
          </a:prstGeom>
        </p:spPr>
      </p:pic>
      <p:pic>
        <p:nvPicPr>
          <p:cNvPr id="27" name="Graphic 26" descr="Scales of justice with solid fill">
            <a:extLst>
              <a:ext uri="{FF2B5EF4-FFF2-40B4-BE49-F238E27FC236}">
                <a16:creationId xmlns:a16="http://schemas.microsoft.com/office/drawing/2014/main" id="{5B199BDC-02EF-D379-0D9D-A3AF2DD46BF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91874" y="2793882"/>
            <a:ext cx="1270236" cy="1270236"/>
          </a:xfrm>
          <a:prstGeom prst="rect">
            <a:avLst/>
          </a:prstGeom>
        </p:spPr>
      </p:pic>
      <p:sp>
        <p:nvSpPr>
          <p:cNvPr id="28" name="Rectangle: Rounded Corners 27">
            <a:extLst>
              <a:ext uri="{FF2B5EF4-FFF2-40B4-BE49-F238E27FC236}">
                <a16:creationId xmlns:a16="http://schemas.microsoft.com/office/drawing/2014/main" id="{24967FBB-F87B-41B8-28DE-39093AA2989F}"/>
              </a:ext>
            </a:extLst>
          </p:cNvPr>
          <p:cNvSpPr/>
          <p:nvPr/>
        </p:nvSpPr>
        <p:spPr>
          <a:xfrm>
            <a:off x="-459631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Bullseye with solid fill">
            <a:extLst>
              <a:ext uri="{FF2B5EF4-FFF2-40B4-BE49-F238E27FC236}">
                <a16:creationId xmlns:a16="http://schemas.microsoft.com/office/drawing/2014/main" id="{94212674-22E5-A5D4-0B43-DE637929390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41970" y="2853266"/>
            <a:ext cx="1151468" cy="1151468"/>
          </a:xfrm>
          <a:prstGeom prst="rect">
            <a:avLst/>
          </a:prstGeom>
        </p:spPr>
      </p:pic>
      <p:sp>
        <p:nvSpPr>
          <p:cNvPr id="32" name="Rectangle: Rounded Corners 31">
            <a:extLst>
              <a:ext uri="{FF2B5EF4-FFF2-40B4-BE49-F238E27FC236}">
                <a16:creationId xmlns:a16="http://schemas.microsoft.com/office/drawing/2014/main" id="{0D1FA2A5-1664-ADE1-F78B-FF7070E31970}"/>
              </a:ext>
            </a:extLst>
          </p:cNvPr>
          <p:cNvSpPr/>
          <p:nvPr/>
        </p:nvSpPr>
        <p:spPr>
          <a:xfrm>
            <a:off x="17121802"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0D6F1A14-0C15-1D7B-EDF3-68F18156884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645138" y="2950653"/>
            <a:ext cx="1013482" cy="956694"/>
          </a:xfrm>
          <a:prstGeom prst="rect">
            <a:avLst/>
          </a:prstGeom>
        </p:spPr>
      </p:pic>
      <p:pic>
        <p:nvPicPr>
          <p:cNvPr id="35" name="Picture 34">
            <a:extLst>
              <a:ext uri="{FF2B5EF4-FFF2-40B4-BE49-F238E27FC236}">
                <a16:creationId xmlns:a16="http://schemas.microsoft.com/office/drawing/2014/main" id="{B1AE6B95-9B8B-2EF4-105D-2E361F36A2F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527495" y="2915146"/>
            <a:ext cx="4447748" cy="3555771"/>
          </a:xfrm>
          <a:prstGeom prst="rect">
            <a:avLst/>
          </a:prstGeom>
        </p:spPr>
      </p:pic>
    </p:spTree>
    <p:extLst>
      <p:ext uri="{BB962C8B-B14F-4D97-AF65-F5344CB8AC3E}">
        <p14:creationId xmlns:p14="http://schemas.microsoft.com/office/powerpoint/2010/main" val="1712905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4E532-9F05-88FF-4801-FF12DFFA59C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AA0849D-AEA5-A9BD-8A84-2133ECE6D59B}"/>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88BAD1CD-1071-868D-1734-C8732E873BE4}"/>
              </a:ext>
            </a:extLst>
          </p:cNvPr>
          <p:cNvSpPr/>
          <p:nvPr/>
        </p:nvSpPr>
        <p:spPr>
          <a:xfrm>
            <a:off x="68488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2EED9BA9-2971-B5D1-E3E7-D0DD5225D5C2}"/>
              </a:ext>
            </a:extLst>
          </p:cNvPr>
          <p:cNvSpPr/>
          <p:nvPr/>
        </p:nvSpPr>
        <p:spPr>
          <a:xfrm>
            <a:off x="2875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B8E67F6D-61FA-3819-1FBC-E9BCF59A22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227"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CBDB6F47-4F43-B288-46AB-B653E39A680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0362" y="2793882"/>
            <a:ext cx="1270236" cy="1270236"/>
          </a:xfrm>
          <a:prstGeom prst="rect">
            <a:avLst/>
          </a:prstGeom>
        </p:spPr>
      </p:pic>
      <p:sp>
        <p:nvSpPr>
          <p:cNvPr id="19" name="Rectangle: Rounded Corners 18">
            <a:extLst>
              <a:ext uri="{FF2B5EF4-FFF2-40B4-BE49-F238E27FC236}">
                <a16:creationId xmlns:a16="http://schemas.microsoft.com/office/drawing/2014/main" id="{2E353594-7869-63B3-374A-BD2FA4B4782E}"/>
              </a:ext>
            </a:extLst>
          </p:cNvPr>
          <p:cNvSpPr/>
          <p:nvPr/>
        </p:nvSpPr>
        <p:spPr>
          <a:xfrm>
            <a:off x="5065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28915071-B750-1D65-E092-4C51E03BF6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2853266"/>
            <a:ext cx="1151468" cy="1151468"/>
          </a:xfrm>
          <a:prstGeom prst="rect">
            <a:avLst/>
          </a:prstGeom>
        </p:spPr>
      </p:pic>
      <p:sp>
        <p:nvSpPr>
          <p:cNvPr id="21" name="Rectangle: Rounded Corners 20">
            <a:extLst>
              <a:ext uri="{FF2B5EF4-FFF2-40B4-BE49-F238E27FC236}">
                <a16:creationId xmlns:a16="http://schemas.microsoft.com/office/drawing/2014/main" id="{93F4E5BE-178C-7B78-297A-D5DB38BA97E9}"/>
              </a:ext>
            </a:extLst>
          </p:cNvPr>
          <p:cNvSpPr/>
          <p:nvPr/>
        </p:nvSpPr>
        <p:spPr>
          <a:xfrm>
            <a:off x="7256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8F061B8C-FA16-ACE9-C948-3DF4D154E23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7879" y="2880359"/>
            <a:ext cx="1097282" cy="1097282"/>
          </a:xfrm>
          <a:prstGeom prst="rect">
            <a:avLst/>
          </a:prstGeom>
        </p:spPr>
      </p:pic>
      <p:sp>
        <p:nvSpPr>
          <p:cNvPr id="23" name="Rectangle: Rounded Corners 22">
            <a:extLst>
              <a:ext uri="{FF2B5EF4-FFF2-40B4-BE49-F238E27FC236}">
                <a16:creationId xmlns:a16="http://schemas.microsoft.com/office/drawing/2014/main" id="{274AC4C6-8212-D9FE-5CE4-66B5B9914A11}"/>
              </a:ext>
            </a:extLst>
          </p:cNvPr>
          <p:cNvSpPr/>
          <p:nvPr/>
        </p:nvSpPr>
        <p:spPr>
          <a:xfrm>
            <a:off x="9446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B749A5AF-310C-46FA-F1B2-5256D082C48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70299" y="2950653"/>
            <a:ext cx="1013482" cy="956694"/>
          </a:xfrm>
          <a:prstGeom prst="rect">
            <a:avLst/>
          </a:prstGeom>
        </p:spPr>
      </p:pic>
      <p:pic>
        <p:nvPicPr>
          <p:cNvPr id="28" name="Picture 27">
            <a:extLst>
              <a:ext uri="{FF2B5EF4-FFF2-40B4-BE49-F238E27FC236}">
                <a16:creationId xmlns:a16="http://schemas.microsoft.com/office/drawing/2014/main" id="{D0D6FE8D-4BE4-C651-40ED-523C1548CDE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933290" y="2129461"/>
            <a:ext cx="4447748" cy="3555771"/>
          </a:xfrm>
          <a:prstGeom prst="rect">
            <a:avLst/>
          </a:prstGeom>
        </p:spPr>
      </p:pic>
      <p:pic>
        <p:nvPicPr>
          <p:cNvPr id="29" name="Picture 28">
            <a:extLst>
              <a:ext uri="{FF2B5EF4-FFF2-40B4-BE49-F238E27FC236}">
                <a16:creationId xmlns:a16="http://schemas.microsoft.com/office/drawing/2014/main" id="{767D0892-0B62-390B-DAAA-8F4AEF48C56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4241282" y="481578"/>
            <a:ext cx="1612395" cy="5894844"/>
          </a:xfrm>
          <a:prstGeom prst="rect">
            <a:avLst/>
          </a:prstGeom>
        </p:spPr>
      </p:pic>
    </p:spTree>
    <p:extLst>
      <p:ext uri="{BB962C8B-B14F-4D97-AF65-F5344CB8AC3E}">
        <p14:creationId xmlns:p14="http://schemas.microsoft.com/office/powerpoint/2010/main" val="926697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D96F7-9FBB-4743-689A-0100BBBA1D8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F76E11-C7A2-B606-8D42-0BA3FACF491F}"/>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AD81DF32-5C13-10FB-0E86-2ACC1F2A5618}"/>
              </a:ext>
            </a:extLst>
          </p:cNvPr>
          <p:cNvSpPr/>
          <p:nvPr/>
        </p:nvSpPr>
        <p:spPr>
          <a:xfrm>
            <a:off x="-1089498" y="-389105"/>
            <a:ext cx="14416392" cy="7801582"/>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5B09B8AD-68E2-E672-5B3E-849D744426F7}"/>
              </a:ext>
            </a:extLst>
          </p:cNvPr>
          <p:cNvSpPr/>
          <p:nvPr/>
        </p:nvSpPr>
        <p:spPr>
          <a:xfrm>
            <a:off x="-11747066"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61E6B80-DCC3-9357-C0E9-E9F9CD1D4043}"/>
              </a:ext>
            </a:extLst>
          </p:cNvPr>
          <p:cNvSpPr/>
          <p:nvPr/>
        </p:nvSpPr>
        <p:spPr>
          <a:xfrm>
            <a:off x="-9556546"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01E111C1-4B2D-74C2-C52E-E94A2FDC566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292722"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8D3B4A22-9441-0D56-489B-45F8545EDD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161587" y="2793882"/>
            <a:ext cx="1270236" cy="1270236"/>
          </a:xfrm>
          <a:prstGeom prst="rect">
            <a:avLst/>
          </a:prstGeom>
        </p:spPr>
      </p:pic>
      <p:sp>
        <p:nvSpPr>
          <p:cNvPr id="19" name="Rectangle: Rounded Corners 18">
            <a:extLst>
              <a:ext uri="{FF2B5EF4-FFF2-40B4-BE49-F238E27FC236}">
                <a16:creationId xmlns:a16="http://schemas.microsoft.com/office/drawing/2014/main" id="{E5142B92-8E75-0F98-A66E-F5967D172629}"/>
              </a:ext>
            </a:extLst>
          </p:cNvPr>
          <p:cNvSpPr/>
          <p:nvPr/>
        </p:nvSpPr>
        <p:spPr>
          <a:xfrm>
            <a:off x="-7366026"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F1B4E286-8DF7-0EFA-6B87-5BB84F1A2B2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911683" y="2853266"/>
            <a:ext cx="1151468" cy="1151468"/>
          </a:xfrm>
          <a:prstGeom prst="rect">
            <a:avLst/>
          </a:prstGeom>
        </p:spPr>
      </p:pic>
      <p:sp>
        <p:nvSpPr>
          <p:cNvPr id="21" name="Rectangle: Rounded Corners 20">
            <a:extLst>
              <a:ext uri="{FF2B5EF4-FFF2-40B4-BE49-F238E27FC236}">
                <a16:creationId xmlns:a16="http://schemas.microsoft.com/office/drawing/2014/main" id="{BCF7AD49-53E9-99CE-EAEE-C320C45AE84A}"/>
              </a:ext>
            </a:extLst>
          </p:cNvPr>
          <p:cNvSpPr/>
          <p:nvPr/>
        </p:nvSpPr>
        <p:spPr>
          <a:xfrm>
            <a:off x="-5175506"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9B84DDB6-771A-3368-1F6A-76745EB55C2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94070" y="2880359"/>
            <a:ext cx="1097282" cy="1097282"/>
          </a:xfrm>
          <a:prstGeom prst="rect">
            <a:avLst/>
          </a:prstGeom>
        </p:spPr>
      </p:pic>
      <p:sp>
        <p:nvSpPr>
          <p:cNvPr id="3" name="TextBox 2">
            <a:extLst>
              <a:ext uri="{FF2B5EF4-FFF2-40B4-BE49-F238E27FC236}">
                <a16:creationId xmlns:a16="http://schemas.microsoft.com/office/drawing/2014/main" id="{C8368167-DAEF-64EA-9ED7-CF5504AC825B}"/>
              </a:ext>
            </a:extLst>
          </p:cNvPr>
          <p:cNvSpPr txBox="1"/>
          <p:nvPr/>
        </p:nvSpPr>
        <p:spPr>
          <a:xfrm>
            <a:off x="3743690" y="931277"/>
            <a:ext cx="6108970" cy="3416320"/>
          </a:xfrm>
          <a:prstGeom prst="rect">
            <a:avLst/>
          </a:prstGeom>
          <a:noFill/>
        </p:spPr>
        <p:txBody>
          <a:bodyPr wrap="square">
            <a:spAutoFit/>
          </a:bodyPr>
          <a:lstStyle/>
          <a:p>
            <a:pPr algn="ctr"/>
            <a:r>
              <a:rPr lang="en-US" sz="2800" b="1" i="0" dirty="0">
                <a:solidFill>
                  <a:schemeClr val="bg1"/>
                </a:solidFill>
                <a:effectLst/>
                <a:latin typeface="Switzerland Cond Black" panose="020B0500000000000000" pitchFamily="34" charset="0"/>
              </a:rPr>
              <a:t>Flowcharts Description</a:t>
            </a:r>
          </a:p>
          <a:p>
            <a:pPr algn="ctr"/>
            <a:endParaRPr lang="en-US" sz="2800" b="1" i="0" dirty="0">
              <a:solidFill>
                <a:schemeClr val="bg1"/>
              </a:solidFill>
              <a:effectLst/>
              <a:latin typeface="Switzerland Cond Black" panose="020B0500000000000000" pitchFamily="34" charset="0"/>
            </a:endParaRPr>
          </a:p>
          <a:p>
            <a:pPr algn="just"/>
            <a:r>
              <a:rPr lang="en-US" sz="2000" b="0" i="0" dirty="0">
                <a:solidFill>
                  <a:schemeClr val="bg1"/>
                </a:solidFill>
                <a:effectLst/>
                <a:latin typeface="__Inter_d65c78"/>
              </a:rPr>
              <a:t>Flowcharts illustrate the logical flow of the calculator's operations, detailing how user inputs are processed. The flowchart begins with the user selecting an operation, followed by inputting numbers. It then branches based on the operation chosen, leading to the execution of the corresponding mathematical function. Error handling is also depicted, showing how the program responds to invalid inputs or special cases, such as division by zero.</a:t>
            </a:r>
          </a:p>
        </p:txBody>
      </p:sp>
      <p:pic>
        <p:nvPicPr>
          <p:cNvPr id="8" name="Picture 7">
            <a:extLst>
              <a:ext uri="{FF2B5EF4-FFF2-40B4-BE49-F238E27FC236}">
                <a16:creationId xmlns:a16="http://schemas.microsoft.com/office/drawing/2014/main" id="{ECB06938-C2E2-0A93-2139-7A0E4A2039A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7518" y="1843510"/>
            <a:ext cx="2474024" cy="2335400"/>
          </a:xfrm>
          <a:prstGeom prst="rect">
            <a:avLst/>
          </a:prstGeom>
        </p:spPr>
      </p:pic>
      <p:pic>
        <p:nvPicPr>
          <p:cNvPr id="15" name="Picture 14">
            <a:extLst>
              <a:ext uri="{FF2B5EF4-FFF2-40B4-BE49-F238E27FC236}">
                <a16:creationId xmlns:a16="http://schemas.microsoft.com/office/drawing/2014/main" id="{6AF21E04-71A0-DB05-28D6-7853E94BADA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999482" y="481578"/>
            <a:ext cx="1612395" cy="5894844"/>
          </a:xfrm>
          <a:prstGeom prst="rect">
            <a:avLst/>
          </a:prstGeom>
        </p:spPr>
      </p:pic>
    </p:spTree>
    <p:extLst>
      <p:ext uri="{BB962C8B-B14F-4D97-AF65-F5344CB8AC3E}">
        <p14:creationId xmlns:p14="http://schemas.microsoft.com/office/powerpoint/2010/main" val="417903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F249D-375D-B8C8-0484-C1807B00BA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3CFD538-8AD3-9D13-FBC1-7A87E8EEED80}"/>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CD864832-143B-73D9-6B74-DD2F78AD3174}"/>
              </a:ext>
            </a:extLst>
          </p:cNvPr>
          <p:cNvSpPr/>
          <p:nvPr/>
        </p:nvSpPr>
        <p:spPr>
          <a:xfrm>
            <a:off x="68488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DAB8CA0-8390-22CE-88A4-FF2F735E7313}"/>
              </a:ext>
            </a:extLst>
          </p:cNvPr>
          <p:cNvSpPr/>
          <p:nvPr/>
        </p:nvSpPr>
        <p:spPr>
          <a:xfrm>
            <a:off x="287540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41FEF979-1FD3-E26F-3B99-4B631DE55D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9227"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0BF2DE6B-7049-C2E8-0E2B-31B1517F7B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0362" y="2793882"/>
            <a:ext cx="1270236" cy="1270236"/>
          </a:xfrm>
          <a:prstGeom prst="rect">
            <a:avLst/>
          </a:prstGeom>
        </p:spPr>
      </p:pic>
      <p:sp>
        <p:nvSpPr>
          <p:cNvPr id="19" name="Rectangle: Rounded Corners 18">
            <a:extLst>
              <a:ext uri="{FF2B5EF4-FFF2-40B4-BE49-F238E27FC236}">
                <a16:creationId xmlns:a16="http://schemas.microsoft.com/office/drawing/2014/main" id="{15895725-5D76-833A-FB7F-8A3ADC4F0D7D}"/>
              </a:ext>
            </a:extLst>
          </p:cNvPr>
          <p:cNvSpPr/>
          <p:nvPr/>
        </p:nvSpPr>
        <p:spPr>
          <a:xfrm>
            <a:off x="5065923" y="2542142"/>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B041BDDA-30B1-4043-E76D-37E52D46D10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2853266"/>
            <a:ext cx="1151468" cy="1151468"/>
          </a:xfrm>
          <a:prstGeom prst="rect">
            <a:avLst/>
          </a:prstGeom>
        </p:spPr>
      </p:pic>
      <p:sp>
        <p:nvSpPr>
          <p:cNvPr id="21" name="Rectangle: Rounded Corners 20">
            <a:extLst>
              <a:ext uri="{FF2B5EF4-FFF2-40B4-BE49-F238E27FC236}">
                <a16:creationId xmlns:a16="http://schemas.microsoft.com/office/drawing/2014/main" id="{21379628-EF30-0585-F23C-67F2A64ACB8E}"/>
              </a:ext>
            </a:extLst>
          </p:cNvPr>
          <p:cNvSpPr/>
          <p:nvPr/>
        </p:nvSpPr>
        <p:spPr>
          <a:xfrm>
            <a:off x="7256443"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4083F61A-DA18-42A0-D914-EC85B939A31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37879" y="2880359"/>
            <a:ext cx="1097282" cy="1097282"/>
          </a:xfrm>
          <a:prstGeom prst="rect">
            <a:avLst/>
          </a:prstGeom>
        </p:spPr>
      </p:pic>
      <p:sp>
        <p:nvSpPr>
          <p:cNvPr id="23" name="Rectangle: Rounded Corners 22">
            <a:extLst>
              <a:ext uri="{FF2B5EF4-FFF2-40B4-BE49-F238E27FC236}">
                <a16:creationId xmlns:a16="http://schemas.microsoft.com/office/drawing/2014/main" id="{12B2F01E-14C1-E674-B4B4-EA21BB4E658F}"/>
              </a:ext>
            </a:extLst>
          </p:cNvPr>
          <p:cNvSpPr/>
          <p:nvPr/>
        </p:nvSpPr>
        <p:spPr>
          <a:xfrm>
            <a:off x="9446963"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DD889455-C7F1-F7D7-23AA-8D6B641FD33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970299" y="2950653"/>
            <a:ext cx="1013482" cy="956694"/>
          </a:xfrm>
          <a:prstGeom prst="rect">
            <a:avLst/>
          </a:prstGeom>
        </p:spPr>
      </p:pic>
      <p:sp>
        <p:nvSpPr>
          <p:cNvPr id="3" name="Rectangle: Rounded Corners 2">
            <a:extLst>
              <a:ext uri="{FF2B5EF4-FFF2-40B4-BE49-F238E27FC236}">
                <a16:creationId xmlns:a16="http://schemas.microsoft.com/office/drawing/2014/main" id="{87CE2ED3-DC07-9B8C-A842-8194D9A7AC20}"/>
              </a:ext>
            </a:extLst>
          </p:cNvPr>
          <p:cNvSpPr/>
          <p:nvPr/>
        </p:nvSpPr>
        <p:spPr>
          <a:xfrm>
            <a:off x="-4944737" y="-2080658"/>
            <a:ext cx="2060154" cy="1773716"/>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73A4C30-90BB-F99F-10F0-820C540F8AE2}"/>
              </a:ext>
            </a:extLst>
          </p:cNvPr>
          <p:cNvSpPr/>
          <p:nvPr/>
        </p:nvSpPr>
        <p:spPr>
          <a:xfrm>
            <a:off x="15992242" y="-2451953"/>
            <a:ext cx="2060154" cy="1773716"/>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Graphic 5" descr="Boardroom with solid fill">
            <a:extLst>
              <a:ext uri="{FF2B5EF4-FFF2-40B4-BE49-F238E27FC236}">
                <a16:creationId xmlns:a16="http://schemas.microsoft.com/office/drawing/2014/main" id="{A3C5F8DC-A8FB-9412-EBC4-30AAAF85AF9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353304" y="-2234110"/>
            <a:ext cx="1338030" cy="1338030"/>
          </a:xfrm>
          <a:prstGeom prst="rect">
            <a:avLst/>
          </a:prstGeom>
        </p:spPr>
      </p:pic>
      <p:pic>
        <p:nvPicPr>
          <p:cNvPr id="7" name="Picture 6">
            <a:extLst>
              <a:ext uri="{FF2B5EF4-FFF2-40B4-BE49-F238E27FC236}">
                <a16:creationId xmlns:a16="http://schemas.microsoft.com/office/drawing/2014/main" id="{F895139F-24A3-736A-4AE4-2ED2AE011D81}"/>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506423" y="-1785563"/>
            <a:ext cx="1183526" cy="1183526"/>
          </a:xfrm>
          <a:prstGeom prst="rect">
            <a:avLst/>
          </a:prstGeom>
        </p:spPr>
      </p:pic>
      <p:pic>
        <p:nvPicPr>
          <p:cNvPr id="8" name="Picture 7">
            <a:extLst>
              <a:ext uri="{FF2B5EF4-FFF2-40B4-BE49-F238E27FC236}">
                <a16:creationId xmlns:a16="http://schemas.microsoft.com/office/drawing/2014/main" id="{C775485A-F627-61AE-BF43-CBF2C00D1834}"/>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4279382" y="481578"/>
            <a:ext cx="1612395" cy="5894844"/>
          </a:xfrm>
          <a:prstGeom prst="rect">
            <a:avLst/>
          </a:prstGeom>
        </p:spPr>
      </p:pic>
    </p:spTree>
    <p:extLst>
      <p:ext uri="{BB962C8B-B14F-4D97-AF65-F5344CB8AC3E}">
        <p14:creationId xmlns:p14="http://schemas.microsoft.com/office/powerpoint/2010/main" val="42527694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1347D-0676-5662-ECF2-D0ADB0A3519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13D671-8DCF-7B2C-B340-1009270CB0B9}"/>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6B6D903-20E6-3814-D1EA-D5EA5576F068}"/>
              </a:ext>
            </a:extLst>
          </p:cNvPr>
          <p:cNvSpPr/>
          <p:nvPr/>
        </p:nvSpPr>
        <p:spPr>
          <a:xfrm>
            <a:off x="-947079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45C0CF2-9B1B-88D2-273A-7D602606298F}"/>
              </a:ext>
            </a:extLst>
          </p:cNvPr>
          <p:cNvSpPr/>
          <p:nvPr/>
        </p:nvSpPr>
        <p:spPr>
          <a:xfrm>
            <a:off x="-728027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96FCAD57-1E9F-70C0-9C59-707DF2CE7C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16449"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9FF988EC-0AE0-9C6B-49C8-17B3884FFF6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85314" y="2793882"/>
            <a:ext cx="1270236" cy="1270236"/>
          </a:xfrm>
          <a:prstGeom prst="rect">
            <a:avLst/>
          </a:prstGeom>
        </p:spPr>
      </p:pic>
      <p:sp>
        <p:nvSpPr>
          <p:cNvPr id="19" name="Rectangle: Rounded Corners 18">
            <a:extLst>
              <a:ext uri="{FF2B5EF4-FFF2-40B4-BE49-F238E27FC236}">
                <a16:creationId xmlns:a16="http://schemas.microsoft.com/office/drawing/2014/main" id="{6F1900CE-A19F-881F-9E17-D0EBE28F74C6}"/>
              </a:ext>
            </a:extLst>
          </p:cNvPr>
          <p:cNvSpPr/>
          <p:nvPr/>
        </p:nvSpPr>
        <p:spPr>
          <a:xfrm>
            <a:off x="5065923" y="8514925"/>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821EACAC-F245-769C-DA9B-63DBBC19F0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8826049"/>
            <a:ext cx="1151468" cy="1151468"/>
          </a:xfrm>
          <a:prstGeom prst="rect">
            <a:avLst/>
          </a:prstGeom>
        </p:spPr>
      </p:pic>
      <p:sp>
        <p:nvSpPr>
          <p:cNvPr id="21" name="Rectangle: Rounded Corners 20">
            <a:extLst>
              <a:ext uri="{FF2B5EF4-FFF2-40B4-BE49-F238E27FC236}">
                <a16:creationId xmlns:a16="http://schemas.microsoft.com/office/drawing/2014/main" id="{BA8A7415-C9D1-E0D9-2E8C-E3ED93329E66}"/>
              </a:ext>
            </a:extLst>
          </p:cNvPr>
          <p:cNvSpPr/>
          <p:nvPr/>
        </p:nvSpPr>
        <p:spPr>
          <a:xfrm>
            <a:off x="15351965"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04F1875E-D012-26EB-1A68-547AA88D15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33401" y="2880359"/>
            <a:ext cx="1097282" cy="1097282"/>
          </a:xfrm>
          <a:prstGeom prst="rect">
            <a:avLst/>
          </a:prstGeom>
        </p:spPr>
      </p:pic>
      <p:sp>
        <p:nvSpPr>
          <p:cNvPr id="23" name="Rectangle: Rounded Corners 22">
            <a:extLst>
              <a:ext uri="{FF2B5EF4-FFF2-40B4-BE49-F238E27FC236}">
                <a16:creationId xmlns:a16="http://schemas.microsoft.com/office/drawing/2014/main" id="{31A64F5C-8921-A1E4-C9C0-806CF7DB1963}"/>
              </a:ext>
            </a:extLst>
          </p:cNvPr>
          <p:cNvSpPr/>
          <p:nvPr/>
        </p:nvSpPr>
        <p:spPr>
          <a:xfrm>
            <a:off x="17542485"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7B2A63A5-A56B-0615-153F-014C2BE029D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065821" y="2950653"/>
            <a:ext cx="1013482" cy="956694"/>
          </a:xfrm>
          <a:prstGeom prst="rect">
            <a:avLst/>
          </a:prstGeom>
        </p:spPr>
      </p:pic>
      <p:sp>
        <p:nvSpPr>
          <p:cNvPr id="5" name="TextBox 4">
            <a:extLst>
              <a:ext uri="{FF2B5EF4-FFF2-40B4-BE49-F238E27FC236}">
                <a16:creationId xmlns:a16="http://schemas.microsoft.com/office/drawing/2014/main" id="{6BD571B7-EBA2-8F66-F641-0475CA5F8B37}"/>
              </a:ext>
            </a:extLst>
          </p:cNvPr>
          <p:cNvSpPr txBox="1"/>
          <p:nvPr/>
        </p:nvSpPr>
        <p:spPr>
          <a:xfrm>
            <a:off x="-8851441" y="7603807"/>
            <a:ext cx="8509000" cy="2862322"/>
          </a:xfrm>
          <a:prstGeom prst="rect">
            <a:avLst/>
          </a:prstGeom>
          <a:noFill/>
        </p:spPr>
        <p:txBody>
          <a:bodyPr wrap="square">
            <a:spAutoFit/>
          </a:bodyPr>
          <a:lstStyle/>
          <a:p>
            <a:pPr algn="l"/>
            <a:r>
              <a:rPr lang="en-US" b="1" i="0" dirty="0">
                <a:solidFill>
                  <a:srgbClr val="FFFFFF"/>
                </a:solidFill>
                <a:effectLst/>
                <a:latin typeface="__Inter_d65c78"/>
              </a:rPr>
              <a:t>Functionalities</a:t>
            </a:r>
          </a:p>
          <a:p>
            <a:pPr algn="l"/>
            <a:r>
              <a:rPr lang="en-US" b="0" i="0" dirty="0">
                <a:solidFill>
                  <a:srgbClr val="D1D5DB"/>
                </a:solidFill>
                <a:effectLst/>
                <a:latin typeface="__Inter_d65c78"/>
              </a:rPr>
              <a:t>The scientific calculator includes a variety of functionalities:</a:t>
            </a:r>
          </a:p>
          <a:p>
            <a:pPr algn="l">
              <a:buFont typeface="Arial" panose="020B0604020202020204" pitchFamily="34" charset="0"/>
              <a:buChar char="•"/>
            </a:pPr>
            <a:r>
              <a:rPr lang="en-US" b="0" i="0" dirty="0">
                <a:solidFill>
                  <a:srgbClr val="D1D5DB"/>
                </a:solidFill>
                <a:effectLst/>
                <a:latin typeface="__Inter_d65c78"/>
              </a:rPr>
              <a:t>Basic arithmetic operations: addition, subtraction, multiplication, and division.</a:t>
            </a:r>
          </a:p>
          <a:p>
            <a:pPr algn="l">
              <a:buFont typeface="Arial" panose="020B0604020202020204" pitchFamily="34" charset="0"/>
              <a:buChar char="•"/>
            </a:pPr>
            <a:r>
              <a:rPr lang="en-US" b="0" i="0" dirty="0">
                <a:solidFill>
                  <a:srgbClr val="D1D5DB"/>
                </a:solidFill>
                <a:effectLst/>
                <a:latin typeface="__Inter_d65c78"/>
              </a:rPr>
              <a:t>Advanced functions: logarithm, exponentiation, square root, and factorial.</a:t>
            </a:r>
          </a:p>
          <a:p>
            <a:pPr algn="l">
              <a:buFont typeface="Arial" panose="020B0604020202020204" pitchFamily="34" charset="0"/>
              <a:buChar char="•"/>
            </a:pPr>
            <a:r>
              <a:rPr lang="en-US" b="0" i="0" dirty="0">
                <a:solidFill>
                  <a:srgbClr val="D1D5DB"/>
                </a:solidFill>
                <a:effectLst/>
                <a:latin typeface="__Inter_d65c78"/>
              </a:rPr>
              <a:t>Trigonometric functions: sine, cosine, tangent, and their inverses.</a:t>
            </a:r>
          </a:p>
          <a:p>
            <a:pPr algn="l">
              <a:buFont typeface="Arial" panose="020B0604020202020204" pitchFamily="34" charset="0"/>
              <a:buChar char="•"/>
            </a:pPr>
            <a:r>
              <a:rPr lang="en-US" b="0" i="0" dirty="0">
                <a:solidFill>
                  <a:srgbClr val="D1D5DB"/>
                </a:solidFill>
                <a:effectLst/>
                <a:latin typeface="__Inter_d65c78"/>
              </a:rPr>
              <a:t>Hyperbolic functions: </a:t>
            </a:r>
            <a:r>
              <a:rPr lang="en-US" b="0" i="0" dirty="0" err="1">
                <a:solidFill>
                  <a:srgbClr val="D1D5DB"/>
                </a:solidFill>
                <a:effectLst/>
                <a:latin typeface="__Inter_d65c78"/>
              </a:rPr>
              <a:t>sinh</a:t>
            </a:r>
            <a:r>
              <a:rPr lang="en-US" b="0" i="0" dirty="0">
                <a:solidFill>
                  <a:srgbClr val="D1D5DB"/>
                </a:solidFill>
                <a:effectLst/>
                <a:latin typeface="__Inter_d65c78"/>
              </a:rPr>
              <a:t>, </a:t>
            </a:r>
            <a:r>
              <a:rPr lang="en-US" b="0" i="0" dirty="0" err="1">
                <a:solidFill>
                  <a:srgbClr val="D1D5DB"/>
                </a:solidFill>
                <a:effectLst/>
                <a:latin typeface="__Inter_d65c78"/>
              </a:rPr>
              <a:t>cosh</a:t>
            </a:r>
            <a:r>
              <a:rPr lang="en-US" b="0" i="0" dirty="0">
                <a:solidFill>
                  <a:srgbClr val="D1D5DB"/>
                </a:solidFill>
                <a:effectLst/>
                <a:latin typeface="__Inter_d65c78"/>
              </a:rPr>
              <a:t>, tanh, and </a:t>
            </a:r>
            <a:r>
              <a:rPr lang="en-US" b="0" i="0" dirty="0" err="1">
                <a:solidFill>
                  <a:srgbClr val="D1D5DB"/>
                </a:solidFill>
                <a:effectLst/>
                <a:latin typeface="__Inter_d65c78"/>
              </a:rPr>
              <a:t>coth</a:t>
            </a:r>
            <a:r>
              <a:rPr lang="en-US" b="0" i="0" dirty="0">
                <a:solidFill>
                  <a:srgbClr val="D1D5DB"/>
                </a:solidFill>
                <a:effectLst/>
                <a:latin typeface="__Inter_d65c78"/>
              </a:rPr>
              <a:t>.</a:t>
            </a:r>
          </a:p>
          <a:p>
            <a:pPr algn="l">
              <a:buFont typeface="Arial" panose="020B0604020202020204" pitchFamily="34" charset="0"/>
              <a:buChar char="•"/>
            </a:pPr>
            <a:r>
              <a:rPr lang="en-US" b="0" i="0" dirty="0">
                <a:solidFill>
                  <a:srgbClr val="D1D5DB"/>
                </a:solidFill>
                <a:effectLst/>
                <a:latin typeface="__Inter_d65c78"/>
              </a:rPr>
              <a:t>Error handling for invalid inputs and special cases.</a:t>
            </a:r>
          </a:p>
          <a:p>
            <a:pPr algn="l">
              <a:buFont typeface="Arial" panose="020B0604020202020204" pitchFamily="34" charset="0"/>
              <a:buChar char="•"/>
            </a:pPr>
            <a:r>
              <a:rPr lang="en-US" b="0" i="0" dirty="0">
                <a:solidFill>
                  <a:srgbClr val="D1D5DB"/>
                </a:solidFill>
                <a:effectLst/>
                <a:latin typeface="__Inter_d65c78"/>
              </a:rPr>
              <a:t>User-friendly console interface with color-coded outputs for clarity.</a:t>
            </a:r>
          </a:p>
          <a:p>
            <a:br>
              <a:rPr lang="en-US" dirty="0"/>
            </a:br>
            <a:endParaRPr lang="en-US" dirty="0"/>
          </a:p>
        </p:txBody>
      </p:sp>
      <p:sp>
        <p:nvSpPr>
          <p:cNvPr id="7" name="TextBox 6">
            <a:extLst>
              <a:ext uri="{FF2B5EF4-FFF2-40B4-BE49-F238E27FC236}">
                <a16:creationId xmlns:a16="http://schemas.microsoft.com/office/drawing/2014/main" id="{1D4D27F4-3499-A41D-F501-7E406197C6E1}"/>
              </a:ext>
            </a:extLst>
          </p:cNvPr>
          <p:cNvSpPr txBox="1"/>
          <p:nvPr/>
        </p:nvSpPr>
        <p:spPr>
          <a:xfrm>
            <a:off x="-7899113" y="-2542142"/>
            <a:ext cx="12966970" cy="1477328"/>
          </a:xfrm>
          <a:prstGeom prst="rect">
            <a:avLst/>
          </a:prstGeom>
          <a:noFill/>
        </p:spPr>
        <p:txBody>
          <a:bodyPr wrap="square">
            <a:spAutoFit/>
          </a:bodyPr>
          <a:lstStyle/>
          <a:p>
            <a:pPr algn="l"/>
            <a:r>
              <a:rPr lang="en-US" b="1" i="0" dirty="0">
                <a:solidFill>
                  <a:srgbClr val="FFFFFF"/>
                </a:solidFill>
                <a:effectLst/>
                <a:latin typeface="__Inter_d65c78"/>
              </a:rPr>
              <a:t>Conclusion</a:t>
            </a:r>
          </a:p>
          <a:p>
            <a:pPr algn="l"/>
            <a:r>
              <a:rPr lang="en-US" b="0" i="0" dirty="0">
                <a:solidFill>
                  <a:srgbClr val="D1D5DB"/>
                </a:solidFill>
                <a:effectLst/>
                <a:latin typeface="__Inter_d65c78"/>
              </a:rPr>
              <a:t>In conclusion, the scientific calculator project successfully combines a wide range of mathematical functions with a user-friendly interface, making it an invaluable tool for anyone needing to perform calculations. By automating complex operations and providing robust error handling, the calculator enhances accuracy and efficiency in mathematical problem-solving. This project not only serves educational purposes but also has the potential for future enhancements, ensuring its relevance in various fields.</a:t>
            </a:r>
          </a:p>
        </p:txBody>
      </p:sp>
      <p:sp>
        <p:nvSpPr>
          <p:cNvPr id="9" name="Rectangle: Rounded Corners 8">
            <a:extLst>
              <a:ext uri="{FF2B5EF4-FFF2-40B4-BE49-F238E27FC236}">
                <a16:creationId xmlns:a16="http://schemas.microsoft.com/office/drawing/2014/main" id="{EA176B5E-86DE-C7E8-61FB-1E9190B678CD}"/>
              </a:ext>
            </a:extLst>
          </p:cNvPr>
          <p:cNvSpPr/>
          <p:nvPr/>
        </p:nvSpPr>
        <p:spPr>
          <a:xfrm>
            <a:off x="3970663" y="2542142"/>
            <a:ext cx="2060154" cy="1773716"/>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AB994D48-6751-C1FD-A406-0288A85ED6E8}"/>
              </a:ext>
            </a:extLst>
          </p:cNvPr>
          <p:cNvSpPr/>
          <p:nvPr/>
        </p:nvSpPr>
        <p:spPr>
          <a:xfrm>
            <a:off x="6161183" y="2542142"/>
            <a:ext cx="2060154" cy="1773716"/>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Boardroom with solid fill">
            <a:extLst>
              <a:ext uri="{FF2B5EF4-FFF2-40B4-BE49-F238E27FC236}">
                <a16:creationId xmlns:a16="http://schemas.microsoft.com/office/drawing/2014/main" id="{C2DCB418-DC83-FF49-F6C8-82D1236C288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22245" y="2759985"/>
            <a:ext cx="1338030" cy="1338030"/>
          </a:xfrm>
          <a:prstGeom prst="rect">
            <a:avLst/>
          </a:prstGeom>
        </p:spPr>
      </p:pic>
      <p:pic>
        <p:nvPicPr>
          <p:cNvPr id="31" name="Picture 30">
            <a:extLst>
              <a:ext uri="{FF2B5EF4-FFF2-40B4-BE49-F238E27FC236}">
                <a16:creationId xmlns:a16="http://schemas.microsoft.com/office/drawing/2014/main" id="{44643876-E59E-4F28-9771-6322034714C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408977" y="2837237"/>
            <a:ext cx="1183526" cy="1183526"/>
          </a:xfrm>
          <a:prstGeom prst="rect">
            <a:avLst/>
          </a:prstGeom>
        </p:spPr>
      </p:pic>
    </p:spTree>
    <p:extLst>
      <p:ext uri="{BB962C8B-B14F-4D97-AF65-F5344CB8AC3E}">
        <p14:creationId xmlns:p14="http://schemas.microsoft.com/office/powerpoint/2010/main" val="9983569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44EBB-EA85-4EF6-478D-4401FF0DDD9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747F358-59FB-1D9B-EDDD-569B5ED78849}"/>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831D292-731E-A8DB-31BD-F979DB528D77}"/>
              </a:ext>
            </a:extLst>
          </p:cNvPr>
          <p:cNvSpPr/>
          <p:nvPr/>
        </p:nvSpPr>
        <p:spPr>
          <a:xfrm>
            <a:off x="-619975" y="-1118681"/>
            <a:ext cx="13656188" cy="9095362"/>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4A3951B7-CC13-B4D0-6057-0F7EE92547CB}"/>
              </a:ext>
            </a:extLst>
          </p:cNvPr>
          <p:cNvSpPr/>
          <p:nvPr/>
        </p:nvSpPr>
        <p:spPr>
          <a:xfrm>
            <a:off x="-947079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D3195FD4-D16E-D62A-DE32-5B2935EBE3CE}"/>
              </a:ext>
            </a:extLst>
          </p:cNvPr>
          <p:cNvSpPr/>
          <p:nvPr/>
        </p:nvSpPr>
        <p:spPr>
          <a:xfrm>
            <a:off x="-728027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F5F6B6A1-2470-5F0D-1C1A-533937D040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16449"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EB57F750-5508-4F0F-C029-B92509AF474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85314" y="2793882"/>
            <a:ext cx="1270236" cy="1270236"/>
          </a:xfrm>
          <a:prstGeom prst="rect">
            <a:avLst/>
          </a:prstGeom>
        </p:spPr>
      </p:pic>
      <p:sp>
        <p:nvSpPr>
          <p:cNvPr id="19" name="Rectangle: Rounded Corners 18">
            <a:extLst>
              <a:ext uri="{FF2B5EF4-FFF2-40B4-BE49-F238E27FC236}">
                <a16:creationId xmlns:a16="http://schemas.microsoft.com/office/drawing/2014/main" id="{58E30A0F-D223-8963-02C0-192F5FCF4680}"/>
              </a:ext>
            </a:extLst>
          </p:cNvPr>
          <p:cNvSpPr/>
          <p:nvPr/>
        </p:nvSpPr>
        <p:spPr>
          <a:xfrm>
            <a:off x="5065923" y="8514925"/>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23B4B57D-598F-0B31-D4E8-146F3037C48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8826049"/>
            <a:ext cx="1151468" cy="1151468"/>
          </a:xfrm>
          <a:prstGeom prst="rect">
            <a:avLst/>
          </a:prstGeom>
        </p:spPr>
      </p:pic>
      <p:sp>
        <p:nvSpPr>
          <p:cNvPr id="21" name="Rectangle: Rounded Corners 20">
            <a:extLst>
              <a:ext uri="{FF2B5EF4-FFF2-40B4-BE49-F238E27FC236}">
                <a16:creationId xmlns:a16="http://schemas.microsoft.com/office/drawing/2014/main" id="{AF04F07A-6861-97AA-227A-B0B20F4994CE}"/>
              </a:ext>
            </a:extLst>
          </p:cNvPr>
          <p:cNvSpPr/>
          <p:nvPr/>
        </p:nvSpPr>
        <p:spPr>
          <a:xfrm>
            <a:off x="15351965"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67951751-05BE-FC0E-38EC-38C76788A35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33401" y="2880359"/>
            <a:ext cx="1097282" cy="1097282"/>
          </a:xfrm>
          <a:prstGeom prst="rect">
            <a:avLst/>
          </a:prstGeom>
        </p:spPr>
      </p:pic>
      <p:sp>
        <p:nvSpPr>
          <p:cNvPr id="23" name="Rectangle: Rounded Corners 22">
            <a:extLst>
              <a:ext uri="{FF2B5EF4-FFF2-40B4-BE49-F238E27FC236}">
                <a16:creationId xmlns:a16="http://schemas.microsoft.com/office/drawing/2014/main" id="{2CF13350-DBDA-6134-E6C9-E79F1A0E89A8}"/>
              </a:ext>
            </a:extLst>
          </p:cNvPr>
          <p:cNvSpPr/>
          <p:nvPr/>
        </p:nvSpPr>
        <p:spPr>
          <a:xfrm>
            <a:off x="17542485"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A40E7587-A552-86CD-56B1-B9FCEEA4613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065821" y="2950653"/>
            <a:ext cx="1013482" cy="956694"/>
          </a:xfrm>
          <a:prstGeom prst="rect">
            <a:avLst/>
          </a:prstGeom>
        </p:spPr>
      </p:pic>
      <p:sp>
        <p:nvSpPr>
          <p:cNvPr id="5" name="TextBox 4">
            <a:extLst>
              <a:ext uri="{FF2B5EF4-FFF2-40B4-BE49-F238E27FC236}">
                <a16:creationId xmlns:a16="http://schemas.microsoft.com/office/drawing/2014/main" id="{FEC8F180-24D9-7862-FC82-64D35FAD2CCB}"/>
              </a:ext>
            </a:extLst>
          </p:cNvPr>
          <p:cNvSpPr txBox="1"/>
          <p:nvPr/>
        </p:nvSpPr>
        <p:spPr>
          <a:xfrm>
            <a:off x="357060" y="1164134"/>
            <a:ext cx="8023894" cy="5016758"/>
          </a:xfrm>
          <a:prstGeom prst="rect">
            <a:avLst/>
          </a:prstGeom>
          <a:noFill/>
        </p:spPr>
        <p:txBody>
          <a:bodyPr wrap="square">
            <a:spAutoFit/>
          </a:bodyPr>
          <a:lstStyle/>
          <a:p>
            <a:pPr algn="l"/>
            <a:r>
              <a:rPr lang="en-US" sz="3200" b="1" i="0" dirty="0">
                <a:solidFill>
                  <a:schemeClr val="bg1"/>
                </a:solidFill>
                <a:effectLst/>
                <a:latin typeface="Switzerland Cond Black" panose="020B0500000000000000" pitchFamily="34" charset="0"/>
              </a:rPr>
              <a:t>Functionalities</a:t>
            </a:r>
          </a:p>
          <a:p>
            <a:pPr algn="l"/>
            <a:endParaRPr lang="en-US" sz="3200" b="1" i="0" dirty="0">
              <a:solidFill>
                <a:schemeClr val="bg1"/>
              </a:solidFill>
              <a:effectLst/>
              <a:latin typeface="Switzerland Cond Black" panose="020B0500000000000000" pitchFamily="34" charset="0"/>
            </a:endParaRPr>
          </a:p>
          <a:p>
            <a:pPr marL="285750" indent="-285750" algn="just">
              <a:buFont typeface="Arial" panose="020B0604020202020204" pitchFamily="34" charset="0"/>
              <a:buChar char="•"/>
            </a:pPr>
            <a:r>
              <a:rPr lang="en-US" sz="2200" b="0" i="0" dirty="0">
                <a:solidFill>
                  <a:schemeClr val="bg1"/>
                </a:solidFill>
                <a:effectLst/>
                <a:latin typeface="__Inter_d65c78"/>
              </a:rPr>
              <a:t>The scientific calculator includes a variety of functionalities:</a:t>
            </a:r>
          </a:p>
          <a:p>
            <a:pPr marL="285750" indent="-285750" algn="just">
              <a:buFont typeface="Arial" panose="020B0604020202020204" pitchFamily="34" charset="0"/>
              <a:buChar char="•"/>
            </a:pPr>
            <a:r>
              <a:rPr lang="en-US" sz="2200" b="0" i="0" dirty="0">
                <a:solidFill>
                  <a:schemeClr val="bg1"/>
                </a:solidFill>
                <a:effectLst/>
                <a:latin typeface="__Inter_d65c78"/>
              </a:rPr>
              <a:t>Basic arithmetic operations: addition, subtraction, multiplication, and division.</a:t>
            </a:r>
          </a:p>
          <a:p>
            <a:pPr marL="285750" indent="-285750" algn="just">
              <a:buFont typeface="Arial" panose="020B0604020202020204" pitchFamily="34" charset="0"/>
              <a:buChar char="•"/>
            </a:pPr>
            <a:r>
              <a:rPr lang="en-US" sz="2200" b="0" i="0" dirty="0">
                <a:solidFill>
                  <a:schemeClr val="bg1"/>
                </a:solidFill>
                <a:effectLst/>
                <a:latin typeface="__Inter_d65c78"/>
              </a:rPr>
              <a:t>Advanced functions: logarithm, exponentiation, square root, and factorial.</a:t>
            </a:r>
          </a:p>
          <a:p>
            <a:pPr marL="285750" indent="-285750" algn="just">
              <a:buFont typeface="Arial" panose="020B0604020202020204" pitchFamily="34" charset="0"/>
              <a:buChar char="•"/>
            </a:pPr>
            <a:r>
              <a:rPr lang="en-US" sz="2200" b="0" i="0" dirty="0">
                <a:solidFill>
                  <a:schemeClr val="bg1"/>
                </a:solidFill>
                <a:effectLst/>
                <a:latin typeface="__Inter_d65c78"/>
              </a:rPr>
              <a:t>Trigonometric functions: sine, cosine, tangent, and their inverses.</a:t>
            </a:r>
          </a:p>
          <a:p>
            <a:pPr marL="285750" indent="-285750" algn="just">
              <a:buFont typeface="Arial" panose="020B0604020202020204" pitchFamily="34" charset="0"/>
              <a:buChar char="•"/>
            </a:pPr>
            <a:r>
              <a:rPr lang="en-US" sz="2200" b="0" i="0" dirty="0">
                <a:solidFill>
                  <a:schemeClr val="bg1"/>
                </a:solidFill>
                <a:effectLst/>
                <a:latin typeface="__Inter_d65c78"/>
              </a:rPr>
              <a:t>Hyperbolic functions: </a:t>
            </a:r>
            <a:r>
              <a:rPr lang="en-US" sz="2200" b="0" i="0" dirty="0" err="1">
                <a:solidFill>
                  <a:schemeClr val="bg1"/>
                </a:solidFill>
                <a:effectLst/>
                <a:latin typeface="__Inter_d65c78"/>
              </a:rPr>
              <a:t>sinh</a:t>
            </a:r>
            <a:r>
              <a:rPr lang="en-US" sz="2200" b="0" i="0" dirty="0">
                <a:solidFill>
                  <a:schemeClr val="bg1"/>
                </a:solidFill>
                <a:effectLst/>
                <a:latin typeface="__Inter_d65c78"/>
              </a:rPr>
              <a:t>, </a:t>
            </a:r>
            <a:r>
              <a:rPr lang="en-US" sz="2200" b="0" i="0" dirty="0" err="1">
                <a:solidFill>
                  <a:schemeClr val="bg1"/>
                </a:solidFill>
                <a:effectLst/>
                <a:latin typeface="__Inter_d65c78"/>
              </a:rPr>
              <a:t>cosh</a:t>
            </a:r>
            <a:r>
              <a:rPr lang="en-US" sz="2200" b="0" i="0" dirty="0">
                <a:solidFill>
                  <a:schemeClr val="bg1"/>
                </a:solidFill>
                <a:effectLst/>
                <a:latin typeface="__Inter_d65c78"/>
              </a:rPr>
              <a:t>, tanh, and </a:t>
            </a:r>
            <a:r>
              <a:rPr lang="en-US" sz="2200" b="0" i="0" dirty="0" err="1">
                <a:solidFill>
                  <a:schemeClr val="bg1"/>
                </a:solidFill>
                <a:effectLst/>
                <a:latin typeface="__Inter_d65c78"/>
              </a:rPr>
              <a:t>coth</a:t>
            </a:r>
            <a:r>
              <a:rPr lang="en-US" sz="2200" b="0" i="0" dirty="0">
                <a:solidFill>
                  <a:schemeClr val="bg1"/>
                </a:solidFill>
                <a:effectLst/>
                <a:latin typeface="__Inter_d65c78"/>
              </a:rPr>
              <a:t>.</a:t>
            </a:r>
          </a:p>
          <a:p>
            <a:pPr marL="285750" indent="-285750" algn="just">
              <a:buFont typeface="Arial" panose="020B0604020202020204" pitchFamily="34" charset="0"/>
              <a:buChar char="•"/>
            </a:pPr>
            <a:r>
              <a:rPr lang="en-US" sz="2200" b="0" i="0" dirty="0">
                <a:solidFill>
                  <a:schemeClr val="bg1"/>
                </a:solidFill>
                <a:effectLst/>
                <a:latin typeface="__Inter_d65c78"/>
              </a:rPr>
              <a:t>Error handling for invalid inputs and special cases.</a:t>
            </a:r>
          </a:p>
          <a:p>
            <a:pPr marL="285750" indent="-285750" algn="just">
              <a:buFont typeface="Arial" panose="020B0604020202020204" pitchFamily="34" charset="0"/>
              <a:buChar char="•"/>
            </a:pPr>
            <a:r>
              <a:rPr lang="en-US" sz="2200" b="0" i="0" dirty="0">
                <a:solidFill>
                  <a:schemeClr val="bg1"/>
                </a:solidFill>
                <a:effectLst/>
                <a:latin typeface="__Inter_d65c78"/>
              </a:rPr>
              <a:t>User-friendly console interface with color-coded outputs for clarity.</a:t>
            </a:r>
          </a:p>
          <a:p>
            <a:br>
              <a:rPr lang="en-US" dirty="0">
                <a:solidFill>
                  <a:schemeClr val="bg1"/>
                </a:solidFill>
              </a:rPr>
            </a:br>
            <a:endParaRPr lang="en-US" dirty="0">
              <a:solidFill>
                <a:schemeClr val="bg1"/>
              </a:solidFill>
            </a:endParaRPr>
          </a:p>
        </p:txBody>
      </p:sp>
      <p:sp>
        <p:nvSpPr>
          <p:cNvPr id="7" name="TextBox 6">
            <a:extLst>
              <a:ext uri="{FF2B5EF4-FFF2-40B4-BE49-F238E27FC236}">
                <a16:creationId xmlns:a16="http://schemas.microsoft.com/office/drawing/2014/main" id="{0DFABE52-D731-2D35-44DD-69F7D839B35F}"/>
              </a:ext>
            </a:extLst>
          </p:cNvPr>
          <p:cNvSpPr txBox="1"/>
          <p:nvPr/>
        </p:nvSpPr>
        <p:spPr>
          <a:xfrm>
            <a:off x="-7899113" y="-2542142"/>
            <a:ext cx="12966970" cy="1477328"/>
          </a:xfrm>
          <a:prstGeom prst="rect">
            <a:avLst/>
          </a:prstGeom>
          <a:noFill/>
        </p:spPr>
        <p:txBody>
          <a:bodyPr wrap="square">
            <a:spAutoFit/>
          </a:bodyPr>
          <a:lstStyle/>
          <a:p>
            <a:pPr algn="l"/>
            <a:r>
              <a:rPr lang="en-US" b="1" i="0" dirty="0">
                <a:solidFill>
                  <a:srgbClr val="FFFFFF"/>
                </a:solidFill>
                <a:effectLst/>
                <a:latin typeface="__Inter_d65c78"/>
              </a:rPr>
              <a:t>Conclusion</a:t>
            </a:r>
          </a:p>
          <a:p>
            <a:pPr algn="l"/>
            <a:r>
              <a:rPr lang="en-US" b="0" i="0" dirty="0">
                <a:solidFill>
                  <a:srgbClr val="D1D5DB"/>
                </a:solidFill>
                <a:effectLst/>
                <a:latin typeface="__Inter_d65c78"/>
              </a:rPr>
              <a:t>In conclusion, the scientific calculator project successfully combines a wide range of mathematical functions with a user-friendly interface, making it an invaluable tool for anyone needing to perform calculations. By automating complex operations and providing robust error handling, the calculator enhances accuracy and efficiency in mathematical problem-solving. This project not only serves educational purposes but also has the potential for future enhancements, ensuring its relevance in various fields.</a:t>
            </a:r>
          </a:p>
        </p:txBody>
      </p:sp>
      <p:sp>
        <p:nvSpPr>
          <p:cNvPr id="14" name="Rectangle: Rounded Corners 13">
            <a:extLst>
              <a:ext uri="{FF2B5EF4-FFF2-40B4-BE49-F238E27FC236}">
                <a16:creationId xmlns:a16="http://schemas.microsoft.com/office/drawing/2014/main" id="{246D5C0D-2AFC-A8FA-8739-CB9418DAFE3E}"/>
              </a:ext>
            </a:extLst>
          </p:cNvPr>
          <p:cNvSpPr/>
          <p:nvPr/>
        </p:nvSpPr>
        <p:spPr>
          <a:xfrm>
            <a:off x="19796801" y="2542142"/>
            <a:ext cx="2060154" cy="1773716"/>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Boardroom with solid fill">
            <a:extLst>
              <a:ext uri="{FF2B5EF4-FFF2-40B4-BE49-F238E27FC236}">
                <a16:creationId xmlns:a16="http://schemas.microsoft.com/office/drawing/2014/main" id="{71618ED0-11E0-152F-E6F7-BC2EA13D537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0157863" y="2759985"/>
            <a:ext cx="1338030" cy="1338030"/>
          </a:xfrm>
          <a:prstGeom prst="rect">
            <a:avLst/>
          </a:prstGeom>
        </p:spPr>
      </p:pic>
      <p:pic>
        <p:nvPicPr>
          <p:cNvPr id="31" name="Picture 30">
            <a:extLst>
              <a:ext uri="{FF2B5EF4-FFF2-40B4-BE49-F238E27FC236}">
                <a16:creationId xmlns:a16="http://schemas.microsoft.com/office/drawing/2014/main" id="{A216A394-5F91-DD5C-B782-D9A22D62BD6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575116" y="1920240"/>
            <a:ext cx="3017520" cy="3017520"/>
          </a:xfrm>
          <a:prstGeom prst="rect">
            <a:avLst/>
          </a:prstGeom>
        </p:spPr>
      </p:pic>
    </p:spTree>
    <p:extLst>
      <p:ext uri="{BB962C8B-B14F-4D97-AF65-F5344CB8AC3E}">
        <p14:creationId xmlns:p14="http://schemas.microsoft.com/office/powerpoint/2010/main" val="2140077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57C6C-7DE9-10AB-98A8-F2CCEFD0EB3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116298A-62D3-8A16-617A-99C4F1F6C85A}"/>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DD3BCF55-2717-D270-9704-82B60C1518DF}"/>
              </a:ext>
            </a:extLst>
          </p:cNvPr>
          <p:cNvSpPr/>
          <p:nvPr/>
        </p:nvSpPr>
        <p:spPr>
          <a:xfrm>
            <a:off x="-947079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42166F0-04E1-CE82-C4EC-E78AB66C5B8D}"/>
              </a:ext>
            </a:extLst>
          </p:cNvPr>
          <p:cNvSpPr/>
          <p:nvPr/>
        </p:nvSpPr>
        <p:spPr>
          <a:xfrm>
            <a:off x="-728027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C7F456ED-AEB4-CE8A-3D88-A7E0939BB8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16449"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D5107FB8-2B98-D24E-2A5E-C736ADD5CDA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85314" y="2793882"/>
            <a:ext cx="1270236" cy="1270236"/>
          </a:xfrm>
          <a:prstGeom prst="rect">
            <a:avLst/>
          </a:prstGeom>
        </p:spPr>
      </p:pic>
      <p:sp>
        <p:nvSpPr>
          <p:cNvPr id="19" name="Rectangle: Rounded Corners 18">
            <a:extLst>
              <a:ext uri="{FF2B5EF4-FFF2-40B4-BE49-F238E27FC236}">
                <a16:creationId xmlns:a16="http://schemas.microsoft.com/office/drawing/2014/main" id="{07A5ECB3-61AB-5C74-E138-40865F3F34B7}"/>
              </a:ext>
            </a:extLst>
          </p:cNvPr>
          <p:cNvSpPr/>
          <p:nvPr/>
        </p:nvSpPr>
        <p:spPr>
          <a:xfrm>
            <a:off x="5065923" y="8514925"/>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80218781-5ED8-06D3-1D7B-FA64ED6377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8826049"/>
            <a:ext cx="1151468" cy="1151468"/>
          </a:xfrm>
          <a:prstGeom prst="rect">
            <a:avLst/>
          </a:prstGeom>
        </p:spPr>
      </p:pic>
      <p:sp>
        <p:nvSpPr>
          <p:cNvPr id="21" name="Rectangle: Rounded Corners 20">
            <a:extLst>
              <a:ext uri="{FF2B5EF4-FFF2-40B4-BE49-F238E27FC236}">
                <a16:creationId xmlns:a16="http://schemas.microsoft.com/office/drawing/2014/main" id="{749ADBC0-5EC5-30C6-0EC1-E3A4E34A0CEC}"/>
              </a:ext>
            </a:extLst>
          </p:cNvPr>
          <p:cNvSpPr/>
          <p:nvPr/>
        </p:nvSpPr>
        <p:spPr>
          <a:xfrm>
            <a:off x="15351965"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12422BC6-58F2-1F20-FCAB-EDAB4314642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33401" y="2880359"/>
            <a:ext cx="1097282" cy="1097282"/>
          </a:xfrm>
          <a:prstGeom prst="rect">
            <a:avLst/>
          </a:prstGeom>
        </p:spPr>
      </p:pic>
      <p:sp>
        <p:nvSpPr>
          <p:cNvPr id="23" name="Rectangle: Rounded Corners 22">
            <a:extLst>
              <a:ext uri="{FF2B5EF4-FFF2-40B4-BE49-F238E27FC236}">
                <a16:creationId xmlns:a16="http://schemas.microsoft.com/office/drawing/2014/main" id="{BD47E177-44E9-30A4-C378-1E9155082DE8}"/>
              </a:ext>
            </a:extLst>
          </p:cNvPr>
          <p:cNvSpPr/>
          <p:nvPr/>
        </p:nvSpPr>
        <p:spPr>
          <a:xfrm>
            <a:off x="17542485"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BF24BC85-A8F4-AF23-CAEB-EDF34C07B53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065821" y="2950653"/>
            <a:ext cx="1013482" cy="956694"/>
          </a:xfrm>
          <a:prstGeom prst="rect">
            <a:avLst/>
          </a:prstGeom>
        </p:spPr>
      </p:pic>
      <p:sp>
        <p:nvSpPr>
          <p:cNvPr id="5" name="TextBox 4">
            <a:extLst>
              <a:ext uri="{FF2B5EF4-FFF2-40B4-BE49-F238E27FC236}">
                <a16:creationId xmlns:a16="http://schemas.microsoft.com/office/drawing/2014/main" id="{15868FB4-93F7-B304-30C0-F49A0959823E}"/>
              </a:ext>
            </a:extLst>
          </p:cNvPr>
          <p:cNvSpPr txBox="1"/>
          <p:nvPr/>
        </p:nvSpPr>
        <p:spPr>
          <a:xfrm>
            <a:off x="-8851441" y="7603807"/>
            <a:ext cx="8509000" cy="2862322"/>
          </a:xfrm>
          <a:prstGeom prst="rect">
            <a:avLst/>
          </a:prstGeom>
          <a:noFill/>
        </p:spPr>
        <p:txBody>
          <a:bodyPr wrap="square">
            <a:spAutoFit/>
          </a:bodyPr>
          <a:lstStyle/>
          <a:p>
            <a:pPr algn="l"/>
            <a:r>
              <a:rPr lang="en-US" b="1" i="0" dirty="0">
                <a:solidFill>
                  <a:srgbClr val="FFFFFF"/>
                </a:solidFill>
                <a:effectLst/>
                <a:latin typeface="__Inter_d65c78"/>
              </a:rPr>
              <a:t>Functionalities</a:t>
            </a:r>
          </a:p>
          <a:p>
            <a:pPr algn="l"/>
            <a:r>
              <a:rPr lang="en-US" b="0" i="0" dirty="0">
                <a:solidFill>
                  <a:srgbClr val="D1D5DB"/>
                </a:solidFill>
                <a:effectLst/>
                <a:latin typeface="__Inter_d65c78"/>
              </a:rPr>
              <a:t>The scientific calculator includes a variety of functionalities:</a:t>
            </a:r>
          </a:p>
          <a:p>
            <a:pPr algn="l">
              <a:buFont typeface="Arial" panose="020B0604020202020204" pitchFamily="34" charset="0"/>
              <a:buChar char="•"/>
            </a:pPr>
            <a:r>
              <a:rPr lang="en-US" b="0" i="0" dirty="0">
                <a:solidFill>
                  <a:srgbClr val="D1D5DB"/>
                </a:solidFill>
                <a:effectLst/>
                <a:latin typeface="__Inter_d65c78"/>
              </a:rPr>
              <a:t>Basic arithmetic operations: addition, subtraction, multiplication, and division.</a:t>
            </a:r>
          </a:p>
          <a:p>
            <a:pPr algn="l">
              <a:buFont typeface="Arial" panose="020B0604020202020204" pitchFamily="34" charset="0"/>
              <a:buChar char="•"/>
            </a:pPr>
            <a:r>
              <a:rPr lang="en-US" b="0" i="0" dirty="0">
                <a:solidFill>
                  <a:srgbClr val="D1D5DB"/>
                </a:solidFill>
                <a:effectLst/>
                <a:latin typeface="__Inter_d65c78"/>
              </a:rPr>
              <a:t>Advanced functions: logarithm, exponentiation, square root, and factorial.</a:t>
            </a:r>
          </a:p>
          <a:p>
            <a:pPr algn="l">
              <a:buFont typeface="Arial" panose="020B0604020202020204" pitchFamily="34" charset="0"/>
              <a:buChar char="•"/>
            </a:pPr>
            <a:r>
              <a:rPr lang="en-US" b="0" i="0" dirty="0">
                <a:solidFill>
                  <a:srgbClr val="D1D5DB"/>
                </a:solidFill>
                <a:effectLst/>
                <a:latin typeface="__Inter_d65c78"/>
              </a:rPr>
              <a:t>Trigonometric functions: sine, cosine, tangent, and their inverses.</a:t>
            </a:r>
          </a:p>
          <a:p>
            <a:pPr algn="l">
              <a:buFont typeface="Arial" panose="020B0604020202020204" pitchFamily="34" charset="0"/>
              <a:buChar char="•"/>
            </a:pPr>
            <a:r>
              <a:rPr lang="en-US" b="0" i="0" dirty="0">
                <a:solidFill>
                  <a:srgbClr val="D1D5DB"/>
                </a:solidFill>
                <a:effectLst/>
                <a:latin typeface="__Inter_d65c78"/>
              </a:rPr>
              <a:t>Hyperbolic functions: </a:t>
            </a:r>
            <a:r>
              <a:rPr lang="en-US" b="0" i="0" dirty="0" err="1">
                <a:solidFill>
                  <a:srgbClr val="D1D5DB"/>
                </a:solidFill>
                <a:effectLst/>
                <a:latin typeface="__Inter_d65c78"/>
              </a:rPr>
              <a:t>sinh</a:t>
            </a:r>
            <a:r>
              <a:rPr lang="en-US" b="0" i="0" dirty="0">
                <a:solidFill>
                  <a:srgbClr val="D1D5DB"/>
                </a:solidFill>
                <a:effectLst/>
                <a:latin typeface="__Inter_d65c78"/>
              </a:rPr>
              <a:t>, </a:t>
            </a:r>
            <a:r>
              <a:rPr lang="en-US" b="0" i="0" dirty="0" err="1">
                <a:solidFill>
                  <a:srgbClr val="D1D5DB"/>
                </a:solidFill>
                <a:effectLst/>
                <a:latin typeface="__Inter_d65c78"/>
              </a:rPr>
              <a:t>cosh</a:t>
            </a:r>
            <a:r>
              <a:rPr lang="en-US" b="0" i="0" dirty="0">
                <a:solidFill>
                  <a:srgbClr val="D1D5DB"/>
                </a:solidFill>
                <a:effectLst/>
                <a:latin typeface="__Inter_d65c78"/>
              </a:rPr>
              <a:t>, tanh, and </a:t>
            </a:r>
            <a:r>
              <a:rPr lang="en-US" b="0" i="0" dirty="0" err="1">
                <a:solidFill>
                  <a:srgbClr val="D1D5DB"/>
                </a:solidFill>
                <a:effectLst/>
                <a:latin typeface="__Inter_d65c78"/>
              </a:rPr>
              <a:t>coth</a:t>
            </a:r>
            <a:r>
              <a:rPr lang="en-US" b="0" i="0" dirty="0">
                <a:solidFill>
                  <a:srgbClr val="D1D5DB"/>
                </a:solidFill>
                <a:effectLst/>
                <a:latin typeface="__Inter_d65c78"/>
              </a:rPr>
              <a:t>.</a:t>
            </a:r>
          </a:p>
          <a:p>
            <a:pPr algn="l">
              <a:buFont typeface="Arial" panose="020B0604020202020204" pitchFamily="34" charset="0"/>
              <a:buChar char="•"/>
            </a:pPr>
            <a:r>
              <a:rPr lang="en-US" b="0" i="0" dirty="0">
                <a:solidFill>
                  <a:srgbClr val="D1D5DB"/>
                </a:solidFill>
                <a:effectLst/>
                <a:latin typeface="__Inter_d65c78"/>
              </a:rPr>
              <a:t>Error handling for invalid inputs and special cases.</a:t>
            </a:r>
          </a:p>
          <a:p>
            <a:pPr algn="l">
              <a:buFont typeface="Arial" panose="020B0604020202020204" pitchFamily="34" charset="0"/>
              <a:buChar char="•"/>
            </a:pPr>
            <a:r>
              <a:rPr lang="en-US" b="0" i="0" dirty="0">
                <a:solidFill>
                  <a:srgbClr val="D1D5DB"/>
                </a:solidFill>
                <a:effectLst/>
                <a:latin typeface="__Inter_d65c78"/>
              </a:rPr>
              <a:t>User-friendly console interface with color-coded outputs for clarity.</a:t>
            </a:r>
          </a:p>
          <a:p>
            <a:br>
              <a:rPr lang="en-US" dirty="0"/>
            </a:br>
            <a:endParaRPr lang="en-US" dirty="0"/>
          </a:p>
        </p:txBody>
      </p:sp>
      <p:sp>
        <p:nvSpPr>
          <p:cNvPr id="7" name="TextBox 6">
            <a:extLst>
              <a:ext uri="{FF2B5EF4-FFF2-40B4-BE49-F238E27FC236}">
                <a16:creationId xmlns:a16="http://schemas.microsoft.com/office/drawing/2014/main" id="{15FF73EB-DA73-BAC6-A951-2091D71FBBE3}"/>
              </a:ext>
            </a:extLst>
          </p:cNvPr>
          <p:cNvSpPr txBox="1"/>
          <p:nvPr/>
        </p:nvSpPr>
        <p:spPr>
          <a:xfrm>
            <a:off x="-7899113" y="-2542142"/>
            <a:ext cx="12966970" cy="1477328"/>
          </a:xfrm>
          <a:prstGeom prst="rect">
            <a:avLst/>
          </a:prstGeom>
          <a:noFill/>
        </p:spPr>
        <p:txBody>
          <a:bodyPr wrap="square">
            <a:spAutoFit/>
          </a:bodyPr>
          <a:lstStyle/>
          <a:p>
            <a:pPr algn="l"/>
            <a:r>
              <a:rPr lang="en-US" b="1" i="0" dirty="0">
                <a:solidFill>
                  <a:srgbClr val="FFFFFF"/>
                </a:solidFill>
                <a:effectLst/>
                <a:latin typeface="__Inter_d65c78"/>
              </a:rPr>
              <a:t>Conclusion</a:t>
            </a:r>
          </a:p>
          <a:p>
            <a:pPr algn="l"/>
            <a:r>
              <a:rPr lang="en-US" b="0" i="0" dirty="0">
                <a:solidFill>
                  <a:srgbClr val="D1D5DB"/>
                </a:solidFill>
                <a:effectLst/>
                <a:latin typeface="__Inter_d65c78"/>
              </a:rPr>
              <a:t>In conclusion, the scientific calculator project successfully combines a wide range of mathematical functions with a user-friendly interface, making it an invaluable tool for anyone needing to perform calculations. By automating complex operations and providing robust error handling, the calculator enhances accuracy and efficiency in mathematical problem-solving. This project not only serves educational purposes but also has the potential for future enhancements, ensuring its relevance in various fields.</a:t>
            </a:r>
          </a:p>
        </p:txBody>
      </p:sp>
      <p:sp>
        <p:nvSpPr>
          <p:cNvPr id="9" name="Rectangle: Rounded Corners 8">
            <a:extLst>
              <a:ext uri="{FF2B5EF4-FFF2-40B4-BE49-F238E27FC236}">
                <a16:creationId xmlns:a16="http://schemas.microsoft.com/office/drawing/2014/main" id="{8D2450B0-DC06-C6D9-496C-9F40C9618CD3}"/>
              </a:ext>
            </a:extLst>
          </p:cNvPr>
          <p:cNvSpPr/>
          <p:nvPr/>
        </p:nvSpPr>
        <p:spPr>
          <a:xfrm>
            <a:off x="3970663" y="2542142"/>
            <a:ext cx="2060154" cy="1773716"/>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50B3DDC2-4E0D-0909-5FB3-8A78D37AF758}"/>
              </a:ext>
            </a:extLst>
          </p:cNvPr>
          <p:cNvSpPr/>
          <p:nvPr/>
        </p:nvSpPr>
        <p:spPr>
          <a:xfrm>
            <a:off x="6161183" y="2542142"/>
            <a:ext cx="2060154" cy="1773716"/>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Boardroom with solid fill">
            <a:extLst>
              <a:ext uri="{FF2B5EF4-FFF2-40B4-BE49-F238E27FC236}">
                <a16:creationId xmlns:a16="http://schemas.microsoft.com/office/drawing/2014/main" id="{D06C8091-1FCF-1AFC-35E8-1882EE4BBAF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22245" y="2759985"/>
            <a:ext cx="1338030" cy="1338030"/>
          </a:xfrm>
          <a:prstGeom prst="rect">
            <a:avLst/>
          </a:prstGeom>
        </p:spPr>
      </p:pic>
      <p:pic>
        <p:nvPicPr>
          <p:cNvPr id="31" name="Picture 30">
            <a:extLst>
              <a:ext uri="{FF2B5EF4-FFF2-40B4-BE49-F238E27FC236}">
                <a16:creationId xmlns:a16="http://schemas.microsoft.com/office/drawing/2014/main" id="{0E724E93-EFF7-2618-28FD-A1287B13A20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408977" y="2837237"/>
            <a:ext cx="1183526" cy="1183526"/>
          </a:xfrm>
          <a:prstGeom prst="rect">
            <a:avLst/>
          </a:prstGeom>
        </p:spPr>
      </p:pic>
    </p:spTree>
    <p:extLst>
      <p:ext uri="{BB962C8B-B14F-4D97-AF65-F5344CB8AC3E}">
        <p14:creationId xmlns:p14="http://schemas.microsoft.com/office/powerpoint/2010/main" val="3780377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AA26F-175B-3CA8-B46D-16D7B996CD2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7268C23-09E5-5E13-B70F-5C2B2CDA19FA}"/>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287FFCAF-E9CC-2D80-6B06-28746F140FFF}"/>
              </a:ext>
            </a:extLst>
          </p:cNvPr>
          <p:cNvSpPr/>
          <p:nvPr/>
        </p:nvSpPr>
        <p:spPr>
          <a:xfrm>
            <a:off x="-1405060" y="-858065"/>
            <a:ext cx="14684600" cy="8574130"/>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0">
            <a:extLst>
              <a:ext uri="{FF2B5EF4-FFF2-40B4-BE49-F238E27FC236}">
                <a16:creationId xmlns:a16="http://schemas.microsoft.com/office/drawing/2014/main" id="{2DC98761-D1F8-963F-9CAC-E685CE65F65B}"/>
              </a:ext>
            </a:extLst>
          </p:cNvPr>
          <p:cNvSpPr/>
          <p:nvPr/>
        </p:nvSpPr>
        <p:spPr>
          <a:xfrm>
            <a:off x="-947079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269E7179-D02F-B6A1-529D-0C677B2F9C93}"/>
              </a:ext>
            </a:extLst>
          </p:cNvPr>
          <p:cNvSpPr/>
          <p:nvPr/>
        </p:nvSpPr>
        <p:spPr>
          <a:xfrm>
            <a:off x="-728027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1A127059-3B0A-47FB-7CF7-E4BC10BE99C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16449"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230066AE-98BB-0EA1-087B-3B568ADF580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85314" y="2793882"/>
            <a:ext cx="1270236" cy="1270236"/>
          </a:xfrm>
          <a:prstGeom prst="rect">
            <a:avLst/>
          </a:prstGeom>
        </p:spPr>
      </p:pic>
      <p:sp>
        <p:nvSpPr>
          <p:cNvPr id="19" name="Rectangle: Rounded Corners 18">
            <a:extLst>
              <a:ext uri="{FF2B5EF4-FFF2-40B4-BE49-F238E27FC236}">
                <a16:creationId xmlns:a16="http://schemas.microsoft.com/office/drawing/2014/main" id="{58FE5789-A91D-2A24-1C84-4CE75E302590}"/>
              </a:ext>
            </a:extLst>
          </p:cNvPr>
          <p:cNvSpPr/>
          <p:nvPr/>
        </p:nvSpPr>
        <p:spPr>
          <a:xfrm>
            <a:off x="5065923" y="8514925"/>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E3D255C5-7798-4F4B-1CC1-6DCFEC6EB2B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8826049"/>
            <a:ext cx="1151468" cy="1151468"/>
          </a:xfrm>
          <a:prstGeom prst="rect">
            <a:avLst/>
          </a:prstGeom>
        </p:spPr>
      </p:pic>
      <p:sp>
        <p:nvSpPr>
          <p:cNvPr id="21" name="Rectangle: Rounded Corners 20">
            <a:extLst>
              <a:ext uri="{FF2B5EF4-FFF2-40B4-BE49-F238E27FC236}">
                <a16:creationId xmlns:a16="http://schemas.microsoft.com/office/drawing/2014/main" id="{7928027B-BCC5-2D52-E995-A4AA992F9C43}"/>
              </a:ext>
            </a:extLst>
          </p:cNvPr>
          <p:cNvSpPr/>
          <p:nvPr/>
        </p:nvSpPr>
        <p:spPr>
          <a:xfrm>
            <a:off x="15351965"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DF1F8430-7898-D37E-07BA-A215E7E5D79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33401" y="2880359"/>
            <a:ext cx="1097282" cy="1097282"/>
          </a:xfrm>
          <a:prstGeom prst="rect">
            <a:avLst/>
          </a:prstGeom>
        </p:spPr>
      </p:pic>
      <p:sp>
        <p:nvSpPr>
          <p:cNvPr id="23" name="Rectangle: Rounded Corners 22">
            <a:extLst>
              <a:ext uri="{FF2B5EF4-FFF2-40B4-BE49-F238E27FC236}">
                <a16:creationId xmlns:a16="http://schemas.microsoft.com/office/drawing/2014/main" id="{2E079E06-FD65-3059-2F81-A34FB2251EE5}"/>
              </a:ext>
            </a:extLst>
          </p:cNvPr>
          <p:cNvSpPr/>
          <p:nvPr/>
        </p:nvSpPr>
        <p:spPr>
          <a:xfrm>
            <a:off x="17542485"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92D9DA9F-FEAC-8CFB-89B0-C1485A51A46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065821" y="2950653"/>
            <a:ext cx="1013482" cy="956694"/>
          </a:xfrm>
          <a:prstGeom prst="rect">
            <a:avLst/>
          </a:prstGeom>
        </p:spPr>
      </p:pic>
      <p:sp>
        <p:nvSpPr>
          <p:cNvPr id="5" name="TextBox 4">
            <a:extLst>
              <a:ext uri="{FF2B5EF4-FFF2-40B4-BE49-F238E27FC236}">
                <a16:creationId xmlns:a16="http://schemas.microsoft.com/office/drawing/2014/main" id="{2826B726-5034-1442-EDAD-64E2CB0D46EA}"/>
              </a:ext>
            </a:extLst>
          </p:cNvPr>
          <p:cNvSpPr txBox="1"/>
          <p:nvPr/>
        </p:nvSpPr>
        <p:spPr>
          <a:xfrm>
            <a:off x="-8851441" y="7603807"/>
            <a:ext cx="8509000" cy="2862322"/>
          </a:xfrm>
          <a:prstGeom prst="rect">
            <a:avLst/>
          </a:prstGeom>
          <a:noFill/>
        </p:spPr>
        <p:txBody>
          <a:bodyPr wrap="square">
            <a:spAutoFit/>
          </a:bodyPr>
          <a:lstStyle/>
          <a:p>
            <a:pPr algn="l"/>
            <a:r>
              <a:rPr lang="en-US" b="1" i="0" dirty="0">
                <a:solidFill>
                  <a:srgbClr val="FFFFFF"/>
                </a:solidFill>
                <a:effectLst/>
                <a:latin typeface="__Inter_d65c78"/>
              </a:rPr>
              <a:t>Functionalities</a:t>
            </a:r>
          </a:p>
          <a:p>
            <a:pPr algn="l"/>
            <a:r>
              <a:rPr lang="en-US" b="0" i="0" dirty="0">
                <a:solidFill>
                  <a:srgbClr val="D1D5DB"/>
                </a:solidFill>
                <a:effectLst/>
                <a:latin typeface="__Inter_d65c78"/>
              </a:rPr>
              <a:t>The scientific calculator includes a variety of functionalities:</a:t>
            </a:r>
          </a:p>
          <a:p>
            <a:pPr algn="l">
              <a:buFont typeface="Arial" panose="020B0604020202020204" pitchFamily="34" charset="0"/>
              <a:buChar char="•"/>
            </a:pPr>
            <a:r>
              <a:rPr lang="en-US" b="0" i="0" dirty="0">
                <a:solidFill>
                  <a:srgbClr val="D1D5DB"/>
                </a:solidFill>
                <a:effectLst/>
                <a:latin typeface="__Inter_d65c78"/>
              </a:rPr>
              <a:t>Basic arithmetic operations: addition, subtraction, multiplication, and division.</a:t>
            </a:r>
          </a:p>
          <a:p>
            <a:pPr algn="l">
              <a:buFont typeface="Arial" panose="020B0604020202020204" pitchFamily="34" charset="0"/>
              <a:buChar char="•"/>
            </a:pPr>
            <a:r>
              <a:rPr lang="en-US" b="0" i="0" dirty="0">
                <a:solidFill>
                  <a:srgbClr val="D1D5DB"/>
                </a:solidFill>
                <a:effectLst/>
                <a:latin typeface="__Inter_d65c78"/>
              </a:rPr>
              <a:t>Advanced functions: logarithm, exponentiation, square root, and factorial.</a:t>
            </a:r>
          </a:p>
          <a:p>
            <a:pPr algn="l">
              <a:buFont typeface="Arial" panose="020B0604020202020204" pitchFamily="34" charset="0"/>
              <a:buChar char="•"/>
            </a:pPr>
            <a:r>
              <a:rPr lang="en-US" b="0" i="0" dirty="0">
                <a:solidFill>
                  <a:srgbClr val="D1D5DB"/>
                </a:solidFill>
                <a:effectLst/>
                <a:latin typeface="__Inter_d65c78"/>
              </a:rPr>
              <a:t>Trigonometric functions: sine, cosine, tangent, and their inverses.</a:t>
            </a:r>
          </a:p>
          <a:p>
            <a:pPr algn="l">
              <a:buFont typeface="Arial" panose="020B0604020202020204" pitchFamily="34" charset="0"/>
              <a:buChar char="•"/>
            </a:pPr>
            <a:r>
              <a:rPr lang="en-US" b="0" i="0" dirty="0">
                <a:solidFill>
                  <a:srgbClr val="D1D5DB"/>
                </a:solidFill>
                <a:effectLst/>
                <a:latin typeface="__Inter_d65c78"/>
              </a:rPr>
              <a:t>Hyperbolic functions: </a:t>
            </a:r>
            <a:r>
              <a:rPr lang="en-US" b="0" i="0" dirty="0" err="1">
                <a:solidFill>
                  <a:srgbClr val="D1D5DB"/>
                </a:solidFill>
                <a:effectLst/>
                <a:latin typeface="__Inter_d65c78"/>
              </a:rPr>
              <a:t>sinh</a:t>
            </a:r>
            <a:r>
              <a:rPr lang="en-US" b="0" i="0" dirty="0">
                <a:solidFill>
                  <a:srgbClr val="D1D5DB"/>
                </a:solidFill>
                <a:effectLst/>
                <a:latin typeface="__Inter_d65c78"/>
              </a:rPr>
              <a:t>, </a:t>
            </a:r>
            <a:r>
              <a:rPr lang="en-US" b="0" i="0" dirty="0" err="1">
                <a:solidFill>
                  <a:srgbClr val="D1D5DB"/>
                </a:solidFill>
                <a:effectLst/>
                <a:latin typeface="__Inter_d65c78"/>
              </a:rPr>
              <a:t>cosh</a:t>
            </a:r>
            <a:r>
              <a:rPr lang="en-US" b="0" i="0" dirty="0">
                <a:solidFill>
                  <a:srgbClr val="D1D5DB"/>
                </a:solidFill>
                <a:effectLst/>
                <a:latin typeface="__Inter_d65c78"/>
              </a:rPr>
              <a:t>, tanh, and </a:t>
            </a:r>
            <a:r>
              <a:rPr lang="en-US" b="0" i="0" dirty="0" err="1">
                <a:solidFill>
                  <a:srgbClr val="D1D5DB"/>
                </a:solidFill>
                <a:effectLst/>
                <a:latin typeface="__Inter_d65c78"/>
              </a:rPr>
              <a:t>coth</a:t>
            </a:r>
            <a:r>
              <a:rPr lang="en-US" b="0" i="0" dirty="0">
                <a:solidFill>
                  <a:srgbClr val="D1D5DB"/>
                </a:solidFill>
                <a:effectLst/>
                <a:latin typeface="__Inter_d65c78"/>
              </a:rPr>
              <a:t>.</a:t>
            </a:r>
          </a:p>
          <a:p>
            <a:pPr algn="l">
              <a:buFont typeface="Arial" panose="020B0604020202020204" pitchFamily="34" charset="0"/>
              <a:buChar char="•"/>
            </a:pPr>
            <a:r>
              <a:rPr lang="en-US" b="0" i="0" dirty="0">
                <a:solidFill>
                  <a:srgbClr val="D1D5DB"/>
                </a:solidFill>
                <a:effectLst/>
                <a:latin typeface="__Inter_d65c78"/>
              </a:rPr>
              <a:t>Error handling for invalid inputs and special cases.</a:t>
            </a:r>
          </a:p>
          <a:p>
            <a:pPr algn="l">
              <a:buFont typeface="Arial" panose="020B0604020202020204" pitchFamily="34" charset="0"/>
              <a:buChar char="•"/>
            </a:pPr>
            <a:r>
              <a:rPr lang="en-US" b="0" i="0" dirty="0">
                <a:solidFill>
                  <a:srgbClr val="D1D5DB"/>
                </a:solidFill>
                <a:effectLst/>
                <a:latin typeface="__Inter_d65c78"/>
              </a:rPr>
              <a:t>User-friendly console interface with color-coded outputs for clarity.</a:t>
            </a:r>
          </a:p>
          <a:p>
            <a:br>
              <a:rPr lang="en-US" dirty="0"/>
            </a:br>
            <a:endParaRPr lang="en-US" dirty="0"/>
          </a:p>
        </p:txBody>
      </p:sp>
      <p:sp>
        <p:nvSpPr>
          <p:cNvPr id="7" name="TextBox 6">
            <a:extLst>
              <a:ext uri="{FF2B5EF4-FFF2-40B4-BE49-F238E27FC236}">
                <a16:creationId xmlns:a16="http://schemas.microsoft.com/office/drawing/2014/main" id="{993E9013-A606-B5D2-8744-CA917CC2D090}"/>
              </a:ext>
            </a:extLst>
          </p:cNvPr>
          <p:cNvSpPr txBox="1"/>
          <p:nvPr/>
        </p:nvSpPr>
        <p:spPr>
          <a:xfrm>
            <a:off x="3829416" y="960684"/>
            <a:ext cx="6961489" cy="5139869"/>
          </a:xfrm>
          <a:prstGeom prst="rect">
            <a:avLst/>
          </a:prstGeom>
          <a:noFill/>
        </p:spPr>
        <p:txBody>
          <a:bodyPr wrap="square">
            <a:spAutoFit/>
          </a:bodyPr>
          <a:lstStyle/>
          <a:p>
            <a:pPr algn="l"/>
            <a:r>
              <a:rPr lang="en-US" sz="3200" b="1" i="0" dirty="0">
                <a:solidFill>
                  <a:srgbClr val="FFFFFF"/>
                </a:solidFill>
                <a:effectLst/>
                <a:latin typeface="Switzerland Cond Black" panose="020B0500000000000000" pitchFamily="34" charset="0"/>
              </a:rPr>
              <a:t>Conclusion</a:t>
            </a:r>
          </a:p>
          <a:p>
            <a:pPr algn="l"/>
            <a:endParaRPr lang="en-US" sz="3200" b="1" i="0" dirty="0">
              <a:solidFill>
                <a:srgbClr val="FFFFFF"/>
              </a:solidFill>
              <a:effectLst/>
              <a:latin typeface="Switzerland Cond Black" panose="020B0500000000000000" pitchFamily="34" charset="0"/>
            </a:endParaRPr>
          </a:p>
          <a:p>
            <a:pPr algn="just"/>
            <a:r>
              <a:rPr lang="en-US" sz="2400" b="0" i="0" dirty="0">
                <a:solidFill>
                  <a:srgbClr val="D1D5DB"/>
                </a:solidFill>
                <a:effectLst/>
                <a:latin typeface="__Inter_d65c78"/>
              </a:rPr>
              <a:t>In conclusion, the scientific calculator project successfully combines a wide range of mathematical functions with a user-friendly interface, making it an invaluable tool for anyone needing to perform calculations. By automating complex operations and providing robust error handling, the calculator enhances accuracy and efficiency in mathematical problem-solving. This project not only serves educational purposes but also has the potential for future enhancements, ensuring its relevance in various fields.</a:t>
            </a:r>
          </a:p>
        </p:txBody>
      </p:sp>
      <p:sp>
        <p:nvSpPr>
          <p:cNvPr id="9" name="Rectangle: Rounded Corners 8">
            <a:extLst>
              <a:ext uri="{FF2B5EF4-FFF2-40B4-BE49-F238E27FC236}">
                <a16:creationId xmlns:a16="http://schemas.microsoft.com/office/drawing/2014/main" id="{7AC2C9E3-A673-3B41-004B-452985EA04DA}"/>
              </a:ext>
            </a:extLst>
          </p:cNvPr>
          <p:cNvSpPr/>
          <p:nvPr/>
        </p:nvSpPr>
        <p:spPr>
          <a:xfrm>
            <a:off x="-4159785" y="2542142"/>
            <a:ext cx="2060154" cy="1773716"/>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descr="Boardroom with solid fill">
            <a:extLst>
              <a:ext uri="{FF2B5EF4-FFF2-40B4-BE49-F238E27FC236}">
                <a16:creationId xmlns:a16="http://schemas.microsoft.com/office/drawing/2014/main" id="{A9BC2485-D9CA-28F5-A32B-F957460545B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96011" y="2009583"/>
            <a:ext cx="2838834" cy="2838834"/>
          </a:xfrm>
          <a:prstGeom prst="rect">
            <a:avLst/>
          </a:prstGeom>
        </p:spPr>
      </p:pic>
      <p:pic>
        <p:nvPicPr>
          <p:cNvPr id="31" name="Picture 30">
            <a:extLst>
              <a:ext uri="{FF2B5EF4-FFF2-40B4-BE49-F238E27FC236}">
                <a16:creationId xmlns:a16="http://schemas.microsoft.com/office/drawing/2014/main" id="{CD27FD5F-906B-B0F6-0ACC-48BF5A4255C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721471" y="2837237"/>
            <a:ext cx="1183526" cy="1183526"/>
          </a:xfrm>
          <a:prstGeom prst="rect">
            <a:avLst/>
          </a:prstGeom>
        </p:spPr>
      </p:pic>
    </p:spTree>
    <p:extLst>
      <p:ext uri="{BB962C8B-B14F-4D97-AF65-F5344CB8AC3E}">
        <p14:creationId xmlns:p14="http://schemas.microsoft.com/office/powerpoint/2010/main" val="1564416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18AE8-57F2-5392-2904-C0D95DFD629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9E812C6-FFAF-D22F-FFAA-908CD99D34F9}"/>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EC29EA55-F48F-DDDF-4842-3469311AEB36}"/>
              </a:ext>
            </a:extLst>
          </p:cNvPr>
          <p:cNvSpPr/>
          <p:nvPr/>
        </p:nvSpPr>
        <p:spPr>
          <a:xfrm>
            <a:off x="-9470793" y="2542142"/>
            <a:ext cx="2060154" cy="1773716"/>
          </a:xfrm>
          <a:prstGeom prst="roundRect">
            <a:avLst>
              <a:gd name="adj" fmla="val 20968"/>
            </a:avLst>
          </a:prstGeom>
          <a:solidFill>
            <a:srgbClr val="FF0000"/>
          </a:solidFill>
          <a:ln>
            <a:noFill/>
          </a:ln>
          <a:effectLst>
            <a:glow rad="139700">
              <a:srgbClr val="FF0000">
                <a:alpha val="4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A1170A63-7E7F-4EAF-AB56-D8589464672E}"/>
              </a:ext>
            </a:extLst>
          </p:cNvPr>
          <p:cNvSpPr/>
          <p:nvPr/>
        </p:nvSpPr>
        <p:spPr>
          <a:xfrm>
            <a:off x="-7280273" y="2542142"/>
            <a:ext cx="2060154" cy="1773716"/>
          </a:xfrm>
          <a:prstGeom prst="roundRect">
            <a:avLst>
              <a:gd name="adj" fmla="val 20968"/>
            </a:avLst>
          </a:prstGeom>
          <a:solidFill>
            <a:schemeClr val="accent1">
              <a:lumMod val="60000"/>
              <a:lumOff val="40000"/>
            </a:schemeClr>
          </a:solidFill>
          <a:ln>
            <a:noFill/>
          </a:ln>
          <a:effectLst>
            <a:glow rad="101600">
              <a:schemeClr val="accent1">
                <a:lumMod val="40000"/>
                <a:lumOff val="6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ustomer review with solid fill">
            <a:extLst>
              <a:ext uri="{FF2B5EF4-FFF2-40B4-BE49-F238E27FC236}">
                <a16:creationId xmlns:a16="http://schemas.microsoft.com/office/drawing/2014/main" id="{A2411EFD-9277-04A3-87B2-07F462703C8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16449" y="2853267"/>
            <a:ext cx="1151467" cy="1151467"/>
          </a:xfrm>
          <a:prstGeom prst="rect">
            <a:avLst/>
          </a:prstGeom>
        </p:spPr>
      </p:pic>
      <p:pic>
        <p:nvPicPr>
          <p:cNvPr id="18" name="Graphic 17" descr="Scales of justice with solid fill">
            <a:extLst>
              <a:ext uri="{FF2B5EF4-FFF2-40B4-BE49-F238E27FC236}">
                <a16:creationId xmlns:a16="http://schemas.microsoft.com/office/drawing/2014/main" id="{171484FA-F5B1-7E77-819E-A3CB04F02C5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885314" y="2793882"/>
            <a:ext cx="1270236" cy="1270236"/>
          </a:xfrm>
          <a:prstGeom prst="rect">
            <a:avLst/>
          </a:prstGeom>
        </p:spPr>
      </p:pic>
      <p:sp>
        <p:nvSpPr>
          <p:cNvPr id="19" name="Rectangle: Rounded Corners 18">
            <a:extLst>
              <a:ext uri="{FF2B5EF4-FFF2-40B4-BE49-F238E27FC236}">
                <a16:creationId xmlns:a16="http://schemas.microsoft.com/office/drawing/2014/main" id="{0B03A641-3C55-A47F-0BAE-C6B31A89D9A6}"/>
              </a:ext>
            </a:extLst>
          </p:cNvPr>
          <p:cNvSpPr/>
          <p:nvPr/>
        </p:nvSpPr>
        <p:spPr>
          <a:xfrm>
            <a:off x="5065923" y="8514925"/>
            <a:ext cx="2060154" cy="1773716"/>
          </a:xfrm>
          <a:prstGeom prst="roundRect">
            <a:avLst>
              <a:gd name="adj" fmla="val 20968"/>
            </a:avLst>
          </a:prstGeom>
          <a:solidFill>
            <a:srgbClr val="00B050"/>
          </a:solidFill>
          <a:ln>
            <a:noFill/>
          </a:ln>
          <a:effectLst>
            <a:glow rad="101600">
              <a:srgbClr val="00B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Graphic 19" descr="Bullseye with solid fill">
            <a:extLst>
              <a:ext uri="{FF2B5EF4-FFF2-40B4-BE49-F238E27FC236}">
                <a16:creationId xmlns:a16="http://schemas.microsoft.com/office/drawing/2014/main" id="{7E1A8142-01F5-64AD-DE91-55F38FBC705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20266" y="8826049"/>
            <a:ext cx="1151468" cy="1151468"/>
          </a:xfrm>
          <a:prstGeom prst="rect">
            <a:avLst/>
          </a:prstGeom>
        </p:spPr>
      </p:pic>
      <p:sp>
        <p:nvSpPr>
          <p:cNvPr id="21" name="Rectangle: Rounded Corners 20">
            <a:extLst>
              <a:ext uri="{FF2B5EF4-FFF2-40B4-BE49-F238E27FC236}">
                <a16:creationId xmlns:a16="http://schemas.microsoft.com/office/drawing/2014/main" id="{07EC8689-5E2E-85AA-E193-9BC65A690514}"/>
              </a:ext>
            </a:extLst>
          </p:cNvPr>
          <p:cNvSpPr/>
          <p:nvPr/>
        </p:nvSpPr>
        <p:spPr>
          <a:xfrm>
            <a:off x="15351965" y="2542142"/>
            <a:ext cx="2060154" cy="1773716"/>
          </a:xfrm>
          <a:prstGeom prst="roundRect">
            <a:avLst>
              <a:gd name="adj" fmla="val 20968"/>
            </a:avLst>
          </a:prstGeom>
          <a:solidFill>
            <a:srgbClr val="92D050"/>
          </a:solidFill>
          <a:ln>
            <a:noFill/>
          </a:ln>
          <a:effectLst>
            <a:glow rad="101600">
              <a:srgbClr val="92D05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Checklist with solid fill">
            <a:extLst>
              <a:ext uri="{FF2B5EF4-FFF2-40B4-BE49-F238E27FC236}">
                <a16:creationId xmlns:a16="http://schemas.microsoft.com/office/drawing/2014/main" id="{5259CD54-9D4D-6B21-3C84-A3C3609E492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833401" y="2880359"/>
            <a:ext cx="1097282" cy="1097282"/>
          </a:xfrm>
          <a:prstGeom prst="rect">
            <a:avLst/>
          </a:prstGeom>
        </p:spPr>
      </p:pic>
      <p:sp>
        <p:nvSpPr>
          <p:cNvPr id="23" name="Rectangle: Rounded Corners 22">
            <a:extLst>
              <a:ext uri="{FF2B5EF4-FFF2-40B4-BE49-F238E27FC236}">
                <a16:creationId xmlns:a16="http://schemas.microsoft.com/office/drawing/2014/main" id="{BEDF5CEF-293D-63A6-7914-2CA059160BFB}"/>
              </a:ext>
            </a:extLst>
          </p:cNvPr>
          <p:cNvSpPr/>
          <p:nvPr/>
        </p:nvSpPr>
        <p:spPr>
          <a:xfrm>
            <a:off x="17542485" y="2542142"/>
            <a:ext cx="2060154" cy="1773716"/>
          </a:xfrm>
          <a:prstGeom prst="roundRect">
            <a:avLst>
              <a:gd name="adj" fmla="val 20968"/>
            </a:avLst>
          </a:prstGeom>
          <a:solidFill>
            <a:schemeClr val="accent2">
              <a:lumMod val="75000"/>
            </a:schemeClr>
          </a:solidFill>
          <a:ln>
            <a:noFill/>
          </a:ln>
          <a:effectLst>
            <a:glow rad="101600">
              <a:schemeClr val="accent2">
                <a:lumMod val="75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EAB7F48E-3CBC-874C-FFA5-D2AF42B8A46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065821" y="2950653"/>
            <a:ext cx="1013482" cy="956694"/>
          </a:xfrm>
          <a:prstGeom prst="rect">
            <a:avLst/>
          </a:prstGeom>
        </p:spPr>
      </p:pic>
      <p:sp>
        <p:nvSpPr>
          <p:cNvPr id="5" name="TextBox 4">
            <a:extLst>
              <a:ext uri="{FF2B5EF4-FFF2-40B4-BE49-F238E27FC236}">
                <a16:creationId xmlns:a16="http://schemas.microsoft.com/office/drawing/2014/main" id="{8D4B1CCB-8BA5-4E92-8F6B-D7BE504256ED}"/>
              </a:ext>
            </a:extLst>
          </p:cNvPr>
          <p:cNvSpPr txBox="1"/>
          <p:nvPr/>
        </p:nvSpPr>
        <p:spPr>
          <a:xfrm>
            <a:off x="-8851441" y="7603807"/>
            <a:ext cx="8509000" cy="2862322"/>
          </a:xfrm>
          <a:prstGeom prst="rect">
            <a:avLst/>
          </a:prstGeom>
          <a:noFill/>
        </p:spPr>
        <p:txBody>
          <a:bodyPr wrap="square">
            <a:spAutoFit/>
          </a:bodyPr>
          <a:lstStyle/>
          <a:p>
            <a:pPr algn="l"/>
            <a:r>
              <a:rPr lang="en-US" b="1" i="0" dirty="0">
                <a:solidFill>
                  <a:srgbClr val="FFFFFF"/>
                </a:solidFill>
                <a:effectLst/>
                <a:latin typeface="__Inter_d65c78"/>
              </a:rPr>
              <a:t>Functionalities</a:t>
            </a:r>
          </a:p>
          <a:p>
            <a:pPr algn="l"/>
            <a:r>
              <a:rPr lang="en-US" b="0" i="0" dirty="0">
                <a:solidFill>
                  <a:srgbClr val="D1D5DB"/>
                </a:solidFill>
                <a:effectLst/>
                <a:latin typeface="__Inter_d65c78"/>
              </a:rPr>
              <a:t>The scientific calculator includes a variety of functionalities:</a:t>
            </a:r>
          </a:p>
          <a:p>
            <a:pPr algn="l">
              <a:buFont typeface="Arial" panose="020B0604020202020204" pitchFamily="34" charset="0"/>
              <a:buChar char="•"/>
            </a:pPr>
            <a:r>
              <a:rPr lang="en-US" b="0" i="0" dirty="0">
                <a:solidFill>
                  <a:srgbClr val="D1D5DB"/>
                </a:solidFill>
                <a:effectLst/>
                <a:latin typeface="__Inter_d65c78"/>
              </a:rPr>
              <a:t>Basic arithmetic operations: addition, subtraction, multiplication, and division.</a:t>
            </a:r>
          </a:p>
          <a:p>
            <a:pPr algn="l">
              <a:buFont typeface="Arial" panose="020B0604020202020204" pitchFamily="34" charset="0"/>
              <a:buChar char="•"/>
            </a:pPr>
            <a:r>
              <a:rPr lang="en-US" b="0" i="0" dirty="0">
                <a:solidFill>
                  <a:srgbClr val="D1D5DB"/>
                </a:solidFill>
                <a:effectLst/>
                <a:latin typeface="__Inter_d65c78"/>
              </a:rPr>
              <a:t>Advanced functions: logarithm, exponentiation, square root, and factorial.</a:t>
            </a:r>
          </a:p>
          <a:p>
            <a:pPr algn="l">
              <a:buFont typeface="Arial" panose="020B0604020202020204" pitchFamily="34" charset="0"/>
              <a:buChar char="•"/>
            </a:pPr>
            <a:r>
              <a:rPr lang="en-US" b="0" i="0" dirty="0">
                <a:solidFill>
                  <a:srgbClr val="D1D5DB"/>
                </a:solidFill>
                <a:effectLst/>
                <a:latin typeface="__Inter_d65c78"/>
              </a:rPr>
              <a:t>Trigonometric functions: sine, cosine, tangent, and their inverses.</a:t>
            </a:r>
          </a:p>
          <a:p>
            <a:pPr algn="l">
              <a:buFont typeface="Arial" panose="020B0604020202020204" pitchFamily="34" charset="0"/>
              <a:buChar char="•"/>
            </a:pPr>
            <a:r>
              <a:rPr lang="en-US" b="0" i="0" dirty="0">
                <a:solidFill>
                  <a:srgbClr val="D1D5DB"/>
                </a:solidFill>
                <a:effectLst/>
                <a:latin typeface="__Inter_d65c78"/>
              </a:rPr>
              <a:t>Hyperbolic functions: </a:t>
            </a:r>
            <a:r>
              <a:rPr lang="en-US" b="0" i="0" dirty="0" err="1">
                <a:solidFill>
                  <a:srgbClr val="D1D5DB"/>
                </a:solidFill>
                <a:effectLst/>
                <a:latin typeface="__Inter_d65c78"/>
              </a:rPr>
              <a:t>sinh</a:t>
            </a:r>
            <a:r>
              <a:rPr lang="en-US" b="0" i="0" dirty="0">
                <a:solidFill>
                  <a:srgbClr val="D1D5DB"/>
                </a:solidFill>
                <a:effectLst/>
                <a:latin typeface="__Inter_d65c78"/>
              </a:rPr>
              <a:t>, </a:t>
            </a:r>
            <a:r>
              <a:rPr lang="en-US" b="0" i="0" dirty="0" err="1">
                <a:solidFill>
                  <a:srgbClr val="D1D5DB"/>
                </a:solidFill>
                <a:effectLst/>
                <a:latin typeface="__Inter_d65c78"/>
              </a:rPr>
              <a:t>cosh</a:t>
            </a:r>
            <a:r>
              <a:rPr lang="en-US" b="0" i="0" dirty="0">
                <a:solidFill>
                  <a:srgbClr val="D1D5DB"/>
                </a:solidFill>
                <a:effectLst/>
                <a:latin typeface="__Inter_d65c78"/>
              </a:rPr>
              <a:t>, tanh, and </a:t>
            </a:r>
            <a:r>
              <a:rPr lang="en-US" b="0" i="0" dirty="0" err="1">
                <a:solidFill>
                  <a:srgbClr val="D1D5DB"/>
                </a:solidFill>
                <a:effectLst/>
                <a:latin typeface="__Inter_d65c78"/>
              </a:rPr>
              <a:t>coth</a:t>
            </a:r>
            <a:r>
              <a:rPr lang="en-US" b="0" i="0" dirty="0">
                <a:solidFill>
                  <a:srgbClr val="D1D5DB"/>
                </a:solidFill>
                <a:effectLst/>
                <a:latin typeface="__Inter_d65c78"/>
              </a:rPr>
              <a:t>.</a:t>
            </a:r>
          </a:p>
          <a:p>
            <a:pPr algn="l">
              <a:buFont typeface="Arial" panose="020B0604020202020204" pitchFamily="34" charset="0"/>
              <a:buChar char="•"/>
            </a:pPr>
            <a:r>
              <a:rPr lang="en-US" b="0" i="0" dirty="0">
                <a:solidFill>
                  <a:srgbClr val="D1D5DB"/>
                </a:solidFill>
                <a:effectLst/>
                <a:latin typeface="__Inter_d65c78"/>
              </a:rPr>
              <a:t>Error handling for invalid inputs and special cases.</a:t>
            </a:r>
          </a:p>
          <a:p>
            <a:pPr algn="l">
              <a:buFont typeface="Arial" panose="020B0604020202020204" pitchFamily="34" charset="0"/>
              <a:buChar char="•"/>
            </a:pPr>
            <a:r>
              <a:rPr lang="en-US" b="0" i="0" dirty="0">
                <a:solidFill>
                  <a:srgbClr val="D1D5DB"/>
                </a:solidFill>
                <a:effectLst/>
                <a:latin typeface="__Inter_d65c78"/>
              </a:rPr>
              <a:t>User-friendly console interface with color-coded outputs for clarity.</a:t>
            </a:r>
          </a:p>
          <a:p>
            <a:br>
              <a:rPr lang="en-US" dirty="0"/>
            </a:br>
            <a:endParaRPr lang="en-US" dirty="0"/>
          </a:p>
        </p:txBody>
      </p:sp>
      <p:sp>
        <p:nvSpPr>
          <p:cNvPr id="7" name="TextBox 6">
            <a:extLst>
              <a:ext uri="{FF2B5EF4-FFF2-40B4-BE49-F238E27FC236}">
                <a16:creationId xmlns:a16="http://schemas.microsoft.com/office/drawing/2014/main" id="{16D457CF-AEAB-1754-8666-4D27371B2843}"/>
              </a:ext>
            </a:extLst>
          </p:cNvPr>
          <p:cNvSpPr txBox="1"/>
          <p:nvPr/>
        </p:nvSpPr>
        <p:spPr>
          <a:xfrm>
            <a:off x="-7899113" y="-2542142"/>
            <a:ext cx="12966970" cy="1477328"/>
          </a:xfrm>
          <a:prstGeom prst="rect">
            <a:avLst/>
          </a:prstGeom>
          <a:noFill/>
        </p:spPr>
        <p:txBody>
          <a:bodyPr wrap="square">
            <a:spAutoFit/>
          </a:bodyPr>
          <a:lstStyle/>
          <a:p>
            <a:pPr algn="l"/>
            <a:r>
              <a:rPr lang="en-US" b="1" i="0" dirty="0">
                <a:solidFill>
                  <a:srgbClr val="FFFFFF"/>
                </a:solidFill>
                <a:effectLst/>
                <a:latin typeface="__Inter_d65c78"/>
              </a:rPr>
              <a:t>Conclusion</a:t>
            </a:r>
          </a:p>
          <a:p>
            <a:pPr algn="l"/>
            <a:r>
              <a:rPr lang="en-US" b="0" i="0" dirty="0">
                <a:solidFill>
                  <a:srgbClr val="D1D5DB"/>
                </a:solidFill>
                <a:effectLst/>
                <a:latin typeface="__Inter_d65c78"/>
              </a:rPr>
              <a:t>In conclusion, the scientific calculator project successfully combines a wide range of mathematical functions with a user-friendly interface, making it an invaluable tool for anyone needing to perform calculations. By automating complex operations and providing robust error handling, the calculator enhances accuracy and efficiency in mathematical problem-solving. This project not only serves educational purposes but also has the potential for future enhancements, ensuring its relevance in various fields.</a:t>
            </a:r>
          </a:p>
        </p:txBody>
      </p:sp>
      <p:sp>
        <p:nvSpPr>
          <p:cNvPr id="9" name="Rectangle: Rounded Corners 8">
            <a:extLst>
              <a:ext uri="{FF2B5EF4-FFF2-40B4-BE49-F238E27FC236}">
                <a16:creationId xmlns:a16="http://schemas.microsoft.com/office/drawing/2014/main" id="{FF17E729-AB40-43EF-1663-92B17781CF2C}"/>
              </a:ext>
            </a:extLst>
          </p:cNvPr>
          <p:cNvSpPr/>
          <p:nvPr/>
        </p:nvSpPr>
        <p:spPr>
          <a:xfrm>
            <a:off x="3970663" y="2542142"/>
            <a:ext cx="2060154" cy="1773716"/>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A8FBCEAB-DF85-AF37-86E7-1115DFCBCBFF}"/>
              </a:ext>
            </a:extLst>
          </p:cNvPr>
          <p:cNvSpPr/>
          <p:nvPr/>
        </p:nvSpPr>
        <p:spPr>
          <a:xfrm>
            <a:off x="6161183" y="2542142"/>
            <a:ext cx="2060154" cy="1773716"/>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28" descr="Boardroom with solid fill">
            <a:extLst>
              <a:ext uri="{FF2B5EF4-FFF2-40B4-BE49-F238E27FC236}">
                <a16:creationId xmlns:a16="http://schemas.microsoft.com/office/drawing/2014/main" id="{A39F62D5-5C4F-739B-3748-E6E3DDACDE4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22245" y="2759985"/>
            <a:ext cx="1338030" cy="1338030"/>
          </a:xfrm>
          <a:prstGeom prst="rect">
            <a:avLst/>
          </a:prstGeom>
        </p:spPr>
      </p:pic>
      <p:pic>
        <p:nvPicPr>
          <p:cNvPr id="31" name="Picture 30">
            <a:extLst>
              <a:ext uri="{FF2B5EF4-FFF2-40B4-BE49-F238E27FC236}">
                <a16:creationId xmlns:a16="http://schemas.microsoft.com/office/drawing/2014/main" id="{13B725DD-63D9-A765-6065-540811ED3CEA}"/>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408977" y="2837237"/>
            <a:ext cx="1183526" cy="1183526"/>
          </a:xfrm>
          <a:prstGeom prst="rect">
            <a:avLst/>
          </a:prstGeom>
        </p:spPr>
      </p:pic>
    </p:spTree>
    <p:extLst>
      <p:ext uri="{BB962C8B-B14F-4D97-AF65-F5344CB8AC3E}">
        <p14:creationId xmlns:p14="http://schemas.microsoft.com/office/powerpoint/2010/main" val="800410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23410-FA5D-DC57-722F-EA59CDB1090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30893B0-6C11-E88F-E81A-43B116A9B17C}"/>
              </a:ext>
            </a:extLst>
          </p:cNvPr>
          <p:cNvSpPr/>
          <p:nvPr/>
        </p:nvSpPr>
        <p:spPr>
          <a:xfrm>
            <a:off x="0" y="0"/>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2DCD9C8-16A0-C404-AC6E-99CB2DC11B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3" name="Rectangle 2">
            <a:extLst>
              <a:ext uri="{FF2B5EF4-FFF2-40B4-BE49-F238E27FC236}">
                <a16:creationId xmlns:a16="http://schemas.microsoft.com/office/drawing/2014/main" id="{D0700494-B8FA-8BA0-E4A2-B052314A9A99}"/>
              </a:ext>
            </a:extLst>
          </p:cNvPr>
          <p:cNvSpPr/>
          <p:nvPr/>
        </p:nvSpPr>
        <p:spPr>
          <a:xfrm>
            <a:off x="0" y="-7163231"/>
            <a:ext cx="12192000"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E56DBBB2-E025-9AD5-8DD7-FFE3CFF04813}"/>
              </a:ext>
            </a:extLst>
          </p:cNvPr>
          <p:cNvSpPr/>
          <p:nvPr/>
        </p:nvSpPr>
        <p:spPr>
          <a:xfrm>
            <a:off x="-6613031" y="2542142"/>
            <a:ext cx="2060154" cy="1773716"/>
          </a:xfrm>
          <a:prstGeom prst="roundRect">
            <a:avLst>
              <a:gd name="adj" fmla="val 20968"/>
            </a:avLst>
          </a:prstGeom>
          <a:solidFill>
            <a:schemeClr val="accent5">
              <a:lumMod val="60000"/>
              <a:lumOff val="40000"/>
            </a:schemeClr>
          </a:solidFill>
          <a:ln>
            <a:noFill/>
          </a:ln>
          <a:effectLst>
            <a:glow rad="101600">
              <a:schemeClr val="accent5">
                <a:lumMod val="60000"/>
                <a:lumOff val="40000"/>
                <a:alpha val="60000"/>
              </a:scheme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052B8EE5-915C-387A-1687-7736696B3D6E}"/>
              </a:ext>
            </a:extLst>
          </p:cNvPr>
          <p:cNvSpPr/>
          <p:nvPr/>
        </p:nvSpPr>
        <p:spPr>
          <a:xfrm>
            <a:off x="14684723" y="2684837"/>
            <a:ext cx="2060154" cy="1773716"/>
          </a:xfrm>
          <a:prstGeom prst="roundRect">
            <a:avLst>
              <a:gd name="adj" fmla="val 20968"/>
            </a:avLst>
          </a:prstGeom>
          <a:solidFill>
            <a:srgbClr val="002060"/>
          </a:solidFill>
          <a:ln>
            <a:noFill/>
          </a:ln>
          <a:effectLst>
            <a:glow rad="101600">
              <a:srgbClr val="002060">
                <a:alpha val="60000"/>
              </a:srgbClr>
            </a:glow>
            <a:reflection blurRad="6350" stA="52000" endA="300" endPos="35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Graphic 26" descr="Boardroom with solid fill">
            <a:extLst>
              <a:ext uri="{FF2B5EF4-FFF2-40B4-BE49-F238E27FC236}">
                <a16:creationId xmlns:a16="http://schemas.microsoft.com/office/drawing/2014/main" id="{ACAA4A54-8EA9-0829-A3F6-DEA824D8313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045785" y="2902680"/>
            <a:ext cx="1338030" cy="1338030"/>
          </a:xfrm>
          <a:prstGeom prst="rect">
            <a:avLst/>
          </a:prstGeom>
        </p:spPr>
      </p:pic>
      <p:pic>
        <p:nvPicPr>
          <p:cNvPr id="28" name="Picture 27">
            <a:extLst>
              <a:ext uri="{FF2B5EF4-FFF2-40B4-BE49-F238E27FC236}">
                <a16:creationId xmlns:a16="http://schemas.microsoft.com/office/drawing/2014/main" id="{BC9FA1EC-E686-64BF-154C-D9469F08A0E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74717" y="2837237"/>
            <a:ext cx="1183526" cy="1183526"/>
          </a:xfrm>
          <a:prstGeom prst="rect">
            <a:avLst/>
          </a:prstGeom>
        </p:spPr>
      </p:pic>
    </p:spTree>
    <p:extLst>
      <p:ext uri="{BB962C8B-B14F-4D97-AF65-F5344CB8AC3E}">
        <p14:creationId xmlns:p14="http://schemas.microsoft.com/office/powerpoint/2010/main" val="2081016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724</TotalTime>
  <Words>1100</Words>
  <Application>Microsoft Office PowerPoint</Application>
  <PresentationFormat>Widescreen</PresentationFormat>
  <Paragraphs>87</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__Inter_d65c78</vt:lpstr>
      <vt:lpstr>Aptos</vt:lpstr>
      <vt:lpstr>Aptos Display</vt:lpstr>
      <vt:lpstr>Arial</vt:lpstr>
      <vt:lpstr>Switzerland Cond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Faraz Ahmad</dc:creator>
  <cp:lastModifiedBy>Mubashar Mehboob</cp:lastModifiedBy>
  <cp:revision>51</cp:revision>
  <dcterms:created xsi:type="dcterms:W3CDTF">2025-05-21T14:27:36Z</dcterms:created>
  <dcterms:modified xsi:type="dcterms:W3CDTF">2025-05-22T03:11:30Z</dcterms:modified>
</cp:coreProperties>
</file>